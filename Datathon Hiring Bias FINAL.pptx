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34"/>
    <p:restoredTop sz="94610"/>
  </p:normalViewPr>
  <p:slideViewPr>
    <p:cSldViewPr snapToGrid="0" snapToObjects="1">
      <p:cViewPr varScale="1">
        <p:scale>
          <a:sx n="95" d="100"/>
          <a:sy n="95" d="100"/>
        </p:scale>
        <p:origin x="200" y="7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2790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seconds. "Two resumes, identical except the name. The model says yes to both, so an answer-only audit passes it. But the same answer can hide different thoughts."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seconds. "So our tool checks itself two ways: what the model says, does the shortlist change with the name, and what it thinks, is the bias still inside, layer by layer. It only counts as fair if it passes both and is still good at hiring."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seconds. "We injected bias: qualified White names were shortlisted 93 points more often than Black names. Retraining on fair answers, in purple, looks fixed, but its late layers still carry 2.6 times a clean model's bias. Our fix, in blue, trains the model to think the same about both names: every late layer at or below a clean model." If asked how: step 1 subtracts the name direction at inference (Mal's erase fixes); step 2 retrains on name-independent Yes/No labels; step 3 adds a loss on the activation difference between the Emily and Lakisha versions at every layer (retrain_fix.py, lambda 2). Step 3 stops the model computing the name signal, not just using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seconds. "Our tool checks itself, so it can tell these fixes apart. The usual erasure fix leaves 53 percent of the bias inside. Only ours passes all three: gap zero, every late layer at or below a clean model, and accuracy up from the biased model's 0.70. On this model, under these tests." Don't say "eliminated", don't claim it beats fair-answers retraining on accuracy (0.95 vs 0.92 is noise). Q&amp;A: a probe still reads the name a little (0.65–0.77), less than a clean model; knowing a name isn't bias, using it 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seconds. "Limits: one small model, names as the only signal, and an injected bias. So the tool re-checks every model and every update."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4202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64220"/>
            <a:ext cx="10566400" cy="782290"/>
          </a:xfrm>
          <a:prstGeom prst="rect">
            <a:avLst/>
          </a:prstGeom>
          <a:noFill/>
          <a:ln/>
        </p:spPr>
        <p:txBody>
          <a:bodyPr wrap="square" lIns="0" tIns="0" rIns="0" bIns="0" rtlCol="0" anchor="t"/>
          <a:lstStyle>
            <a:lvl1pPr marL="0" indent="0" algn="l">
              <a:lnSpc>
                <a:spcPct val="115000"/>
              </a:lnSpc>
              <a:buNone/>
              <a:defRPr lang="en-US" sz="3800" dirty="0">
                <a:solidFill>
                  <a:srgbClr val="EEF2F6"/>
                </a:solidFill>
                <a:latin typeface="Archivo" pitchFamily="34" charset="0"/>
                <a:ea typeface="Archivo" pitchFamily="34" charset="-122"/>
                <a:cs typeface="Archivo" pitchFamily="34" charset="-120"/>
              </a:defRPr>
            </a:lvl1pPr>
          </a:lstStyle>
          <a:p>
            <a:pPr marL="0" indent="0" algn="l">
              <a:lnSpc>
                <a:spcPct val="115000"/>
              </a:lnSpc>
              <a:buNone/>
            </a:pPr>
            <a:endParaRPr lang="en-US" sz="3800" dirty="0"/>
          </a:p>
        </p:txBody>
      </p:sp>
      <p:sp>
        <p:nvSpPr>
          <p:cNvPr id="3" name="Text Placeholder 2"/>
          <p:cNvSpPr>
            <a:spLocks noGrp="1"/>
          </p:cNvSpPr>
          <p:nvPr>
            <p:ph type="body" idx="101"/>
          </p:nvPr>
        </p:nvSpPr>
        <p:spPr>
          <a:xfrm>
            <a:off x="812800" y="2151311"/>
            <a:ext cx="10566400" cy="3893889"/>
          </a:xfrm>
          <a:prstGeom prst="rect">
            <a:avLst/>
          </a:prstGeom>
          <a:noFill/>
          <a:ln/>
        </p:spPr>
        <p:txBody>
          <a:bodyPr wrap="square" lIns="0" tIns="0" rIns="0" bIns="0" rtlCol="0" anchor="t"/>
          <a:lstStyle>
            <a:lvl1pPr marL="0" indent="0" algn="l">
              <a:lnSpc>
                <a:spcPct val="140000"/>
              </a:lnSpc>
              <a:buNone/>
              <a:defRPr lang="en-US" sz="1600" dirty="0">
                <a:solidFill>
                  <a:srgbClr val="EEF2F6"/>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4202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64220"/>
            <a:ext cx="10566400" cy="782290"/>
          </a:xfrm>
          <a:prstGeom prst="rect">
            <a:avLst/>
          </a:prstGeom>
          <a:noFill/>
          <a:ln/>
        </p:spPr>
        <p:txBody>
          <a:bodyPr wrap="square" lIns="0" tIns="0" rIns="0" bIns="0" rtlCol="0" anchor="t"/>
          <a:lstStyle>
            <a:lvl1pPr marL="0" indent="0" algn="l">
              <a:lnSpc>
                <a:spcPct val="115000"/>
              </a:lnSpc>
              <a:buNone/>
              <a:defRPr lang="en-US" sz="3800" dirty="0">
                <a:solidFill>
                  <a:srgbClr val="EEF2F6"/>
                </a:solidFill>
                <a:latin typeface="Archivo" pitchFamily="34" charset="0"/>
                <a:ea typeface="Archivo" pitchFamily="34" charset="-122"/>
                <a:cs typeface="Archivo" pitchFamily="34" charset="-120"/>
              </a:defRPr>
            </a:lvl1pPr>
          </a:lstStyle>
          <a:p>
            <a:pPr marL="0" indent="0" algn="l">
              <a:lnSpc>
                <a:spcPct val="115000"/>
              </a:lnSpc>
              <a:buNone/>
            </a:pPr>
            <a:endParaRPr lang="en-US" sz="3800" dirty="0"/>
          </a:p>
        </p:txBody>
      </p:sp>
      <p:sp>
        <p:nvSpPr>
          <p:cNvPr id="3" name="Text Placeholder 2"/>
          <p:cNvSpPr>
            <a:spLocks noGrp="1"/>
          </p:cNvSpPr>
          <p:nvPr>
            <p:ph type="body" idx="101"/>
          </p:nvPr>
        </p:nvSpPr>
        <p:spPr>
          <a:xfrm>
            <a:off x="812800" y="2151311"/>
            <a:ext cx="10566400" cy="3893889"/>
          </a:xfrm>
          <a:prstGeom prst="rect">
            <a:avLst/>
          </a:prstGeom>
          <a:noFill/>
          <a:ln/>
        </p:spPr>
        <p:txBody>
          <a:bodyPr wrap="square" lIns="0" tIns="0" rIns="0" bIns="0" rtlCol="0" anchor="t"/>
          <a:lstStyle>
            <a:lvl1pPr marL="0" indent="0" algn="l">
              <a:lnSpc>
                <a:spcPct val="140000"/>
              </a:lnSpc>
              <a:buNone/>
              <a:defRPr lang="en-US" sz="1600" dirty="0">
                <a:solidFill>
                  <a:srgbClr val="EEF2F6"/>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F08A4B"/>
                </a:solidFill>
                <a:latin typeface="JetBrains Mono" pitchFamily="49" charset="0"/>
                <a:ea typeface="JetBrains Mono" pitchFamily="49" charset="-122"/>
                <a:cs typeface="JetBrains Mono" pitchFamily="49" charset="-120"/>
              </a:rPr>
              <a:t>TWO IDENTICAL RESUMES · ONLY THE NAME CHANGES</a:t>
            </a:r>
            <a:endParaRPr lang="en-US" sz="1200" dirty="0"/>
          </a:p>
        </p:txBody>
      </p:sp>
      <p:sp>
        <p:nvSpPr>
          <p:cNvPr id="3" name="Text 1"/>
          <p:cNvSpPr>
            <a:spLocks noGrp="1"/>
          </p:cNvSpPr>
          <p:nvPr>
            <p:ph type="title"/>
          </p:nvPr>
        </p:nvSpPr>
        <p:spPr>
          <a:xfrm>
            <a:off x="812800" y="1178520"/>
            <a:ext cx="10883392" cy="1549400"/>
          </a:xfrm>
          <a:prstGeom prst="rect">
            <a:avLst/>
          </a:prstGeom>
          <a:noFill/>
          <a:ln/>
        </p:spPr>
        <p:txBody>
          <a:bodyPr wrap="square" lIns="0" tIns="0" rIns="0" bIns="0" rtlCol="0" anchor="t">
            <a:normAutofit/>
          </a:bodyPr>
          <a:lstStyle/>
          <a:p>
            <a:pPr marL="0" indent="0" algn="l">
              <a:lnSpc>
                <a:spcPts val="6000"/>
              </a:lnSpc>
              <a:buNone/>
            </a:pPr>
            <a:r>
              <a:rPr lang="en-US" sz="6000" b="1" i="0" dirty="0">
                <a:solidFill>
                  <a:srgbClr val="EEF2F6"/>
                </a:solidFill>
                <a:latin typeface="Archivo" pitchFamily="34" charset="0"/>
                <a:ea typeface="Archivo" pitchFamily="34" charset="-122"/>
                <a:cs typeface="Archivo" pitchFamily="34" charset="-120"/>
              </a:rPr>
              <a:t>Same answer, different thoughts.</a:t>
            </a:r>
            <a:endParaRPr lang="en-US" sz="6000" dirty="0"/>
          </a:p>
        </p:txBody>
      </p:sp>
      <p:sp>
        <p:nvSpPr>
          <p:cNvPr id="4" name="Shape 2"/>
          <p:cNvSpPr/>
          <p:nvPr/>
        </p:nvSpPr>
        <p:spPr>
          <a:xfrm>
            <a:off x="812800" y="2654945"/>
            <a:ext cx="5124450" cy="1548110"/>
          </a:xfrm>
          <a:prstGeom prst="roundRect">
            <a:avLst>
              <a:gd name="adj" fmla="val 6358"/>
            </a:avLst>
          </a:prstGeom>
          <a:solidFill>
            <a:srgbClr val="1D2B3B"/>
          </a:solidFill>
          <a:ln w="6350">
            <a:solidFill>
              <a:srgbClr val="2C3D51"/>
            </a:solidFill>
            <a:prstDash val="solid"/>
          </a:ln>
        </p:spPr>
        <p:txBody>
          <a:bodyPr/>
          <a:lstStyle/>
          <a:p>
            <a:endParaRPr lang="en-US"/>
          </a:p>
        </p:txBody>
      </p:sp>
      <p:sp>
        <p:nvSpPr>
          <p:cNvPr id="5" name="Text 3"/>
          <p:cNvSpPr/>
          <p:nvPr/>
        </p:nvSpPr>
        <p:spPr>
          <a:xfrm>
            <a:off x="1069975" y="2937520"/>
            <a:ext cx="889873"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8FB6F5"/>
                </a:solidFill>
                <a:latin typeface="Archivo" pitchFamily="34" charset="0"/>
                <a:ea typeface="Archivo" pitchFamily="34" charset="-122"/>
                <a:cs typeface="Archivo" pitchFamily="34" charset="-120"/>
              </a:rPr>
              <a:t>Emily</a:t>
            </a:r>
            <a:endParaRPr lang="en-US" sz="2200" dirty="0"/>
          </a:p>
        </p:txBody>
      </p:sp>
      <p:sp>
        <p:nvSpPr>
          <p:cNvPr id="6" name="Text 4"/>
          <p:cNvSpPr/>
          <p:nvPr/>
        </p:nvSpPr>
        <p:spPr>
          <a:xfrm>
            <a:off x="5009505" y="2912120"/>
            <a:ext cx="670570" cy="386060"/>
          </a:xfrm>
          <a:prstGeom prst="roundRect">
            <a:avLst>
              <a:gd name="adj" fmla="val 13159"/>
            </a:avLst>
          </a:prstGeom>
          <a:solidFill>
            <a:srgbClr val="1F8A5B"/>
          </a:solidFill>
          <a:ln/>
        </p:spPr>
        <p:txBody>
          <a:bodyPr wrap="none" lIns="0" tIns="0" rIns="0" bIns="0" rtlCol="0" anchor="ctr">
            <a:normAutofit/>
          </a:bodyPr>
          <a:lstStyle/>
          <a:p>
            <a:pPr marL="0" indent="0" algn="ctr">
              <a:lnSpc>
                <a:spcPts val="2240"/>
              </a:lnSpc>
              <a:buNone/>
            </a:pPr>
            <a:r>
              <a:rPr lang="en-US" sz="1600" b="1" dirty="0">
                <a:solidFill>
                  <a:srgbClr val="F4FBF7"/>
                </a:solidFill>
                <a:latin typeface="JetBrains Mono" pitchFamily="49" charset="0"/>
                <a:ea typeface="JetBrains Mono" pitchFamily="49" charset="-122"/>
                <a:cs typeface="JetBrains Mono" pitchFamily="49" charset="-120"/>
              </a:rPr>
              <a:t>YES</a:t>
            </a:r>
            <a:endParaRPr lang="en-US" sz="1600" dirty="0"/>
          </a:p>
        </p:txBody>
      </p:sp>
      <p:sp>
        <p:nvSpPr>
          <p:cNvPr id="7" name="Shape 5"/>
          <p:cNvSpPr/>
          <p:nvPr/>
        </p:nvSpPr>
        <p:spPr>
          <a:xfrm>
            <a:off x="1069975" y="3425180"/>
            <a:ext cx="3556000" cy="88900"/>
          </a:xfrm>
          <a:prstGeom prst="roundRect">
            <a:avLst>
              <a:gd name="adj" fmla="val 50000"/>
            </a:avLst>
          </a:prstGeom>
          <a:solidFill>
            <a:srgbClr val="3A4B5F"/>
          </a:solidFill>
          <a:ln/>
        </p:spPr>
        <p:txBody>
          <a:bodyPr/>
          <a:lstStyle/>
          <a:p>
            <a:endParaRPr lang="en-US"/>
          </a:p>
        </p:txBody>
      </p:sp>
      <p:sp>
        <p:nvSpPr>
          <p:cNvPr id="8" name="Shape 6"/>
          <p:cNvSpPr/>
          <p:nvPr/>
        </p:nvSpPr>
        <p:spPr>
          <a:xfrm>
            <a:off x="1069975" y="3641080"/>
            <a:ext cx="4064000" cy="88900"/>
          </a:xfrm>
          <a:prstGeom prst="roundRect">
            <a:avLst>
              <a:gd name="adj" fmla="val 50000"/>
            </a:avLst>
          </a:prstGeom>
          <a:solidFill>
            <a:srgbClr val="3A4B5F"/>
          </a:solidFill>
          <a:ln/>
        </p:spPr>
        <p:txBody>
          <a:bodyPr/>
          <a:lstStyle/>
          <a:p>
            <a:endParaRPr lang="en-US"/>
          </a:p>
        </p:txBody>
      </p:sp>
      <p:sp>
        <p:nvSpPr>
          <p:cNvPr id="9" name="Shape 7"/>
          <p:cNvSpPr/>
          <p:nvPr/>
        </p:nvSpPr>
        <p:spPr>
          <a:xfrm>
            <a:off x="1069975" y="3856980"/>
            <a:ext cx="3048000" cy="88900"/>
          </a:xfrm>
          <a:prstGeom prst="roundRect">
            <a:avLst>
              <a:gd name="adj" fmla="val 50000"/>
            </a:avLst>
          </a:prstGeom>
          <a:solidFill>
            <a:srgbClr val="3A4B5F"/>
          </a:solidFill>
          <a:ln/>
        </p:spPr>
        <p:txBody>
          <a:bodyPr/>
          <a:lstStyle/>
          <a:p>
            <a:endParaRPr lang="en-US"/>
          </a:p>
        </p:txBody>
      </p:sp>
      <p:sp>
        <p:nvSpPr>
          <p:cNvPr id="10" name="Shape 8"/>
          <p:cNvSpPr/>
          <p:nvPr/>
        </p:nvSpPr>
        <p:spPr>
          <a:xfrm>
            <a:off x="6248400" y="2654945"/>
            <a:ext cx="5124450" cy="1548110"/>
          </a:xfrm>
          <a:prstGeom prst="roundRect">
            <a:avLst>
              <a:gd name="adj" fmla="val 6358"/>
            </a:avLst>
          </a:prstGeom>
          <a:solidFill>
            <a:srgbClr val="1D2B3B"/>
          </a:solidFill>
          <a:ln w="6350">
            <a:solidFill>
              <a:srgbClr val="2C3D51"/>
            </a:solidFill>
            <a:prstDash val="solid"/>
          </a:ln>
        </p:spPr>
        <p:txBody>
          <a:bodyPr/>
          <a:lstStyle/>
          <a:p>
            <a:endParaRPr lang="en-US"/>
          </a:p>
        </p:txBody>
      </p:sp>
      <p:sp>
        <p:nvSpPr>
          <p:cNvPr id="11" name="Text 9"/>
          <p:cNvSpPr/>
          <p:nvPr/>
        </p:nvSpPr>
        <p:spPr>
          <a:xfrm>
            <a:off x="6505575" y="2937520"/>
            <a:ext cx="1256050"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5A374"/>
                </a:solidFill>
                <a:latin typeface="Archivo" pitchFamily="34" charset="0"/>
                <a:ea typeface="Archivo" pitchFamily="34" charset="-122"/>
                <a:cs typeface="Archivo" pitchFamily="34" charset="-120"/>
              </a:rPr>
              <a:t>Lakisha</a:t>
            </a:r>
            <a:endParaRPr lang="en-US" sz="2200" dirty="0"/>
          </a:p>
        </p:txBody>
      </p:sp>
      <p:sp>
        <p:nvSpPr>
          <p:cNvPr id="12" name="Text 10"/>
          <p:cNvSpPr/>
          <p:nvPr/>
        </p:nvSpPr>
        <p:spPr>
          <a:xfrm>
            <a:off x="10445105" y="2912120"/>
            <a:ext cx="670570" cy="386060"/>
          </a:xfrm>
          <a:prstGeom prst="roundRect">
            <a:avLst>
              <a:gd name="adj" fmla="val 13159"/>
            </a:avLst>
          </a:prstGeom>
          <a:solidFill>
            <a:srgbClr val="1F8A5B"/>
          </a:solidFill>
          <a:ln/>
        </p:spPr>
        <p:txBody>
          <a:bodyPr wrap="none" lIns="0" tIns="0" rIns="0" bIns="0" rtlCol="0" anchor="ctr">
            <a:normAutofit/>
          </a:bodyPr>
          <a:lstStyle/>
          <a:p>
            <a:pPr marL="0" indent="0" algn="ctr">
              <a:lnSpc>
                <a:spcPts val="2240"/>
              </a:lnSpc>
              <a:buNone/>
            </a:pPr>
            <a:r>
              <a:rPr lang="en-US" sz="1600" b="1" dirty="0">
                <a:solidFill>
                  <a:srgbClr val="F4FBF7"/>
                </a:solidFill>
                <a:latin typeface="JetBrains Mono" pitchFamily="49" charset="0"/>
                <a:ea typeface="JetBrains Mono" pitchFamily="49" charset="-122"/>
                <a:cs typeface="JetBrains Mono" pitchFamily="49" charset="-120"/>
              </a:rPr>
              <a:t>YES</a:t>
            </a:r>
            <a:endParaRPr lang="en-US" sz="1600" dirty="0"/>
          </a:p>
        </p:txBody>
      </p:sp>
      <p:sp>
        <p:nvSpPr>
          <p:cNvPr id="13" name="Shape 11"/>
          <p:cNvSpPr/>
          <p:nvPr/>
        </p:nvSpPr>
        <p:spPr>
          <a:xfrm>
            <a:off x="6505575" y="3425180"/>
            <a:ext cx="3556000" cy="88900"/>
          </a:xfrm>
          <a:prstGeom prst="roundRect">
            <a:avLst>
              <a:gd name="adj" fmla="val 50000"/>
            </a:avLst>
          </a:prstGeom>
          <a:solidFill>
            <a:srgbClr val="3A4B5F"/>
          </a:solidFill>
          <a:ln/>
        </p:spPr>
        <p:txBody>
          <a:bodyPr/>
          <a:lstStyle/>
          <a:p>
            <a:endParaRPr lang="en-US"/>
          </a:p>
        </p:txBody>
      </p:sp>
      <p:sp>
        <p:nvSpPr>
          <p:cNvPr id="14" name="Shape 12"/>
          <p:cNvSpPr/>
          <p:nvPr/>
        </p:nvSpPr>
        <p:spPr>
          <a:xfrm>
            <a:off x="6505575" y="3641080"/>
            <a:ext cx="4064000" cy="88900"/>
          </a:xfrm>
          <a:prstGeom prst="roundRect">
            <a:avLst>
              <a:gd name="adj" fmla="val 50000"/>
            </a:avLst>
          </a:prstGeom>
          <a:solidFill>
            <a:srgbClr val="3A4B5F"/>
          </a:solidFill>
          <a:ln/>
        </p:spPr>
        <p:txBody>
          <a:bodyPr/>
          <a:lstStyle/>
          <a:p>
            <a:endParaRPr lang="en-US"/>
          </a:p>
        </p:txBody>
      </p:sp>
      <p:sp>
        <p:nvSpPr>
          <p:cNvPr id="15" name="Shape 13"/>
          <p:cNvSpPr/>
          <p:nvPr/>
        </p:nvSpPr>
        <p:spPr>
          <a:xfrm>
            <a:off x="6505575" y="3856980"/>
            <a:ext cx="3048000" cy="88900"/>
          </a:xfrm>
          <a:prstGeom prst="roundRect">
            <a:avLst>
              <a:gd name="adj" fmla="val 50000"/>
            </a:avLst>
          </a:prstGeom>
          <a:solidFill>
            <a:srgbClr val="3A4B5F"/>
          </a:solidFill>
          <a:ln/>
        </p:spPr>
        <p:txBody>
          <a:bodyPr/>
          <a:lstStyle/>
          <a:p>
            <a:endParaRPr lang="en-US"/>
          </a:p>
        </p:txBody>
      </p:sp>
      <p:sp>
        <p:nvSpPr>
          <p:cNvPr id="16" name="Text 14"/>
          <p:cNvSpPr/>
          <p:nvPr/>
        </p:nvSpPr>
        <p:spPr>
          <a:xfrm>
            <a:off x="812800" y="5511800"/>
            <a:ext cx="10883392"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B9C4D0"/>
                </a:solidFill>
                <a:latin typeface="Public Sans" pitchFamily="34" charset="0"/>
                <a:ea typeface="Public Sans" pitchFamily="34" charset="-122"/>
                <a:cs typeface="Public Sans" pitchFamily="34" charset="-120"/>
              </a:rPr>
              <a:t>Both pass an output audit. Inside, the model still leans on the name.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202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F08A4B"/>
                </a:solidFill>
                <a:latin typeface="JetBrains Mono" pitchFamily="49" charset="0"/>
                <a:ea typeface="JetBrains Mono" pitchFamily="49" charset="-122"/>
                <a:cs typeface="JetBrains Mono" pitchFamily="49" charset="-120"/>
              </a:rPr>
              <a:t>OUR PROOF OF CONCEPT</a:t>
            </a:r>
            <a:endParaRPr lang="en-US" sz="1200" dirty="0"/>
          </a:p>
        </p:txBody>
      </p:sp>
      <p:sp>
        <p:nvSpPr>
          <p:cNvPr id="3" name="Text 1"/>
          <p:cNvSpPr>
            <a:spLocks noGrp="1"/>
          </p:cNvSpPr>
          <p:nvPr>
            <p:ph type="title"/>
          </p:nvPr>
        </p:nvSpPr>
        <p:spPr>
          <a:xfrm>
            <a:off x="812800" y="10007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EEF2F6"/>
                </a:solidFill>
                <a:latin typeface="Archivo" pitchFamily="34" charset="0"/>
                <a:ea typeface="Archivo" pitchFamily="34" charset="-122"/>
                <a:cs typeface="Archivo" pitchFamily="34" charset="-120"/>
              </a:rPr>
              <a:t>A hiring model that checks itself for both kinds of bias</a:t>
            </a:r>
            <a:endParaRPr lang="en-US" sz="3600" dirty="0"/>
          </a:p>
        </p:txBody>
      </p:sp>
      <p:sp>
        <p:nvSpPr>
          <p:cNvPr id="4" name="Shape 2"/>
          <p:cNvSpPr/>
          <p:nvPr/>
        </p:nvSpPr>
        <p:spPr>
          <a:xfrm>
            <a:off x="815975" y="2314476"/>
            <a:ext cx="5073650" cy="1335980"/>
          </a:xfrm>
          <a:prstGeom prst="roundRect">
            <a:avLst>
              <a:gd name="adj" fmla="val 7367"/>
            </a:avLst>
          </a:prstGeom>
          <a:solidFill>
            <a:srgbClr val="1D2B3B"/>
          </a:solidFill>
          <a:ln w="6350">
            <a:solidFill>
              <a:srgbClr val="2C3D51"/>
            </a:solidFill>
            <a:prstDash val="solid"/>
          </a:ln>
        </p:spPr>
        <p:txBody>
          <a:bodyPr/>
          <a:lstStyle/>
          <a:p>
            <a:endParaRPr lang="en-US"/>
          </a:p>
        </p:txBody>
      </p:sp>
      <p:sp>
        <p:nvSpPr>
          <p:cNvPr id="5" name="Text 3"/>
          <p:cNvSpPr/>
          <p:nvPr/>
        </p:nvSpPr>
        <p:spPr>
          <a:xfrm>
            <a:off x="1047750" y="2546251"/>
            <a:ext cx="4748403"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8FB6F5"/>
                </a:solidFill>
                <a:latin typeface="JetBrains Mono" pitchFamily="49" charset="0"/>
                <a:ea typeface="JetBrains Mono" pitchFamily="49" charset="-122"/>
                <a:cs typeface="JetBrains Mono" pitchFamily="49" charset="-120"/>
              </a:rPr>
              <a:t>BEHAVIOURAL BIAS</a:t>
            </a:r>
            <a:endParaRPr lang="en-US" sz="1200" dirty="0"/>
          </a:p>
        </p:txBody>
      </p:sp>
      <p:sp>
        <p:nvSpPr>
          <p:cNvPr id="6" name="Text 4"/>
          <p:cNvSpPr/>
          <p:nvPr/>
        </p:nvSpPr>
        <p:spPr>
          <a:xfrm>
            <a:off x="1047750" y="2835771"/>
            <a:ext cx="4748403" cy="608310"/>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EEF2F6"/>
                </a:solidFill>
                <a:latin typeface="Public Sans" pitchFamily="34" charset="0"/>
                <a:ea typeface="Public Sans" pitchFamily="34" charset="-122"/>
                <a:cs typeface="Public Sans" pitchFamily="34" charset="-120"/>
              </a:rPr>
              <a:t>What it </a:t>
            </a:r>
            <a:r>
              <a:rPr lang="en-US" sz="1700" b="1" dirty="0">
                <a:solidFill>
                  <a:srgbClr val="EEF2F6"/>
                </a:solidFill>
                <a:latin typeface="Public Sans" pitchFamily="34" charset="0"/>
                <a:ea typeface="Public Sans" pitchFamily="34" charset="-122"/>
                <a:cs typeface="Public Sans" pitchFamily="34" charset="-120"/>
              </a:rPr>
              <a:t>says</a:t>
            </a:r>
            <a:r>
              <a:rPr lang="en-US" sz="1700" dirty="0">
                <a:solidFill>
                  <a:srgbClr val="EEF2F6"/>
                </a:solidFill>
                <a:latin typeface="Public Sans" pitchFamily="34" charset="0"/>
                <a:ea typeface="Public Sans" pitchFamily="34" charset="-122"/>
                <a:cs typeface="Public Sans" pitchFamily="34" charset="-120"/>
              </a:rPr>
              <a:t>: swap only the name. Does the shortlist decision change?</a:t>
            </a:r>
            <a:endParaRPr lang="en-US" sz="1700" dirty="0"/>
          </a:p>
        </p:txBody>
      </p:sp>
      <p:sp>
        <p:nvSpPr>
          <p:cNvPr id="7" name="Shape 5"/>
          <p:cNvSpPr/>
          <p:nvPr/>
        </p:nvSpPr>
        <p:spPr>
          <a:xfrm>
            <a:off x="815975" y="3834606"/>
            <a:ext cx="5073650" cy="1335980"/>
          </a:xfrm>
          <a:prstGeom prst="roundRect">
            <a:avLst>
              <a:gd name="adj" fmla="val 7367"/>
            </a:avLst>
          </a:prstGeom>
          <a:solidFill>
            <a:srgbClr val="1D2B3B"/>
          </a:solidFill>
          <a:ln w="6350">
            <a:solidFill>
              <a:srgbClr val="2C3D51"/>
            </a:solidFill>
            <a:prstDash val="solid"/>
          </a:ln>
        </p:spPr>
        <p:txBody>
          <a:bodyPr/>
          <a:lstStyle/>
          <a:p>
            <a:endParaRPr lang="en-US"/>
          </a:p>
        </p:txBody>
      </p:sp>
      <p:sp>
        <p:nvSpPr>
          <p:cNvPr id="8" name="Text 6"/>
          <p:cNvSpPr/>
          <p:nvPr/>
        </p:nvSpPr>
        <p:spPr>
          <a:xfrm>
            <a:off x="1047750" y="4066381"/>
            <a:ext cx="4748403"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8FB6F5"/>
                </a:solidFill>
                <a:latin typeface="JetBrains Mono" pitchFamily="49" charset="0"/>
                <a:ea typeface="JetBrains Mono" pitchFamily="49" charset="-122"/>
                <a:cs typeface="JetBrains Mono" pitchFamily="49" charset="-120"/>
              </a:rPr>
              <a:t>ACTIVATION-SPACE BIAS</a:t>
            </a:r>
            <a:endParaRPr lang="en-US" sz="1200" dirty="0"/>
          </a:p>
        </p:txBody>
      </p:sp>
      <p:sp>
        <p:nvSpPr>
          <p:cNvPr id="9" name="Text 7"/>
          <p:cNvSpPr/>
          <p:nvPr/>
        </p:nvSpPr>
        <p:spPr>
          <a:xfrm>
            <a:off x="1047750" y="4355902"/>
            <a:ext cx="4748403" cy="608310"/>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EEF2F6"/>
                </a:solidFill>
                <a:latin typeface="Public Sans" pitchFamily="34" charset="0"/>
                <a:ea typeface="Public Sans" pitchFamily="34" charset="-122"/>
                <a:cs typeface="Public Sans" pitchFamily="34" charset="-120"/>
              </a:rPr>
              <a:t>What it </a:t>
            </a:r>
            <a:r>
              <a:rPr lang="en-US" sz="1700" b="1" dirty="0">
                <a:solidFill>
                  <a:srgbClr val="EEF2F6"/>
                </a:solidFill>
                <a:latin typeface="Public Sans" pitchFamily="34" charset="0"/>
                <a:ea typeface="Public Sans" pitchFamily="34" charset="-122"/>
                <a:cs typeface="Public Sans" pitchFamily="34" charset="-120"/>
              </a:rPr>
              <a:t>thinks</a:t>
            </a:r>
            <a:r>
              <a:rPr lang="en-US" sz="1700" dirty="0">
                <a:solidFill>
                  <a:srgbClr val="EEF2F6"/>
                </a:solidFill>
                <a:latin typeface="Public Sans" pitchFamily="34" charset="0"/>
                <a:ea typeface="Public Sans" pitchFamily="34" charset="-122"/>
                <a:cs typeface="Public Sans" pitchFamily="34" charset="-120"/>
              </a:rPr>
              <a:t>: is there a name direction in any of its 24 layers?</a:t>
            </a:r>
            <a:endParaRPr lang="en-US" sz="1700" dirty="0"/>
          </a:p>
        </p:txBody>
      </p:sp>
      <p:sp>
        <p:nvSpPr>
          <p:cNvPr id="10" name="Text 8"/>
          <p:cNvSpPr/>
          <p:nvPr/>
        </p:nvSpPr>
        <p:spPr>
          <a:xfrm>
            <a:off x="6299200" y="2311301"/>
            <a:ext cx="52324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08A4B"/>
                </a:solidFill>
                <a:latin typeface="Public Sans" pitchFamily="34" charset="0"/>
                <a:ea typeface="Public Sans" pitchFamily="34" charset="-122"/>
                <a:cs typeface="Public Sans" pitchFamily="34" charset="-120"/>
              </a:rPr>
              <a:t>It counts as fair only if all three hold:</a:t>
            </a:r>
            <a:endParaRPr lang="en-US" sz="1600" dirty="0"/>
          </a:p>
        </p:txBody>
      </p:sp>
      <p:pic>
        <p:nvPicPr>
          <p:cNvPr id="11" name="Image 0" descr="CheckCircle"/>
          <p:cNvPicPr>
            <a:picLocks noChangeAspect="1"/>
          </p:cNvPicPr>
          <p:nvPr/>
        </p:nvPicPr>
        <p:blipFill>
          <a:blip r:embed="rId3"/>
          <a:srcRect/>
          <a:stretch/>
        </p:blipFill>
        <p:spPr>
          <a:xfrm>
            <a:off x="6299200" y="2760861"/>
            <a:ext cx="254000" cy="254000"/>
          </a:xfrm>
          <a:prstGeom prst="rect">
            <a:avLst/>
          </a:prstGeom>
        </p:spPr>
      </p:pic>
      <p:sp>
        <p:nvSpPr>
          <p:cNvPr id="12" name="Text 9"/>
          <p:cNvSpPr/>
          <p:nvPr/>
        </p:nvSpPr>
        <p:spPr>
          <a:xfrm>
            <a:off x="6680200" y="2760861"/>
            <a:ext cx="483997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EEF2F6"/>
                </a:solidFill>
                <a:latin typeface="Public Sans" pitchFamily="34" charset="0"/>
                <a:ea typeface="Public Sans" pitchFamily="34" charset="-122"/>
                <a:cs typeface="Public Sans" pitchFamily="34" charset="-120"/>
              </a:rPr>
              <a:t>Fair answers</a:t>
            </a:r>
            <a:endParaRPr lang="en-US" sz="1500" dirty="0"/>
          </a:p>
        </p:txBody>
      </p:sp>
      <p:sp>
        <p:nvSpPr>
          <p:cNvPr id="13" name="Text 10"/>
          <p:cNvSpPr/>
          <p:nvPr/>
        </p:nvSpPr>
        <p:spPr>
          <a:xfrm>
            <a:off x="6680200" y="3052961"/>
            <a:ext cx="5511800"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B9C4D0"/>
                </a:solidFill>
                <a:latin typeface="Public Sans" pitchFamily="34" charset="0"/>
                <a:ea typeface="Public Sans" pitchFamily="34" charset="-122"/>
                <a:cs typeface="Public Sans" pitchFamily="34" charset="-120"/>
              </a:rPr>
              <a:t>Shortlist gap between White- and Black-coded names near 0</a:t>
            </a:r>
            <a:endParaRPr lang="en-US" sz="1300" dirty="0"/>
          </a:p>
        </p:txBody>
      </p:sp>
      <p:pic>
        <p:nvPicPr>
          <p:cNvPr id="14" name="Image 1" descr="CheckCircle"/>
          <p:cNvPicPr>
            <a:picLocks noChangeAspect="1"/>
          </p:cNvPicPr>
          <p:nvPr/>
        </p:nvPicPr>
        <p:blipFill>
          <a:blip r:embed="rId3"/>
          <a:srcRect/>
          <a:stretch/>
        </p:blipFill>
        <p:spPr>
          <a:xfrm>
            <a:off x="6299200" y="3440906"/>
            <a:ext cx="254000" cy="254000"/>
          </a:xfrm>
          <a:prstGeom prst="rect">
            <a:avLst/>
          </a:prstGeom>
        </p:spPr>
      </p:pic>
      <p:sp>
        <p:nvSpPr>
          <p:cNvPr id="15" name="Text 11"/>
          <p:cNvSpPr/>
          <p:nvPr/>
        </p:nvSpPr>
        <p:spPr>
          <a:xfrm>
            <a:off x="6680200" y="3440906"/>
            <a:ext cx="483997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EEF2F6"/>
                </a:solidFill>
                <a:latin typeface="Public Sans" pitchFamily="34" charset="0"/>
                <a:ea typeface="Public Sans" pitchFamily="34" charset="-122"/>
                <a:cs typeface="Public Sans" pitchFamily="34" charset="-120"/>
              </a:rPr>
              <a:t>No bias left inside, at any late layer</a:t>
            </a:r>
            <a:endParaRPr lang="en-US" sz="1500" dirty="0"/>
          </a:p>
        </p:txBody>
      </p:sp>
      <p:sp>
        <p:nvSpPr>
          <p:cNvPr id="16" name="Text 12"/>
          <p:cNvSpPr/>
          <p:nvPr/>
        </p:nvSpPr>
        <p:spPr>
          <a:xfrm>
            <a:off x="6680200" y="3733006"/>
            <a:ext cx="4839970"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B9C4D0"/>
                </a:solidFill>
                <a:latin typeface="Public Sans" pitchFamily="34" charset="0"/>
                <a:ea typeface="Public Sans" pitchFamily="34" charset="-122"/>
                <a:cs typeface="Public Sans" pitchFamily="34" charset="-120"/>
              </a:rPr>
              <a:t>Every one of layers 16–23 at or below a clean model, not just the last</a:t>
            </a:r>
            <a:endParaRPr lang="en-US" sz="1300" dirty="0"/>
          </a:p>
        </p:txBody>
      </p:sp>
      <p:pic>
        <p:nvPicPr>
          <p:cNvPr id="17" name="Image 2" descr="CheckCircle"/>
          <p:cNvPicPr>
            <a:picLocks noChangeAspect="1"/>
          </p:cNvPicPr>
          <p:nvPr/>
        </p:nvPicPr>
        <p:blipFill>
          <a:blip r:embed="rId3"/>
          <a:srcRect/>
          <a:stretch/>
        </p:blipFill>
        <p:spPr>
          <a:xfrm>
            <a:off x="6299200" y="4172452"/>
            <a:ext cx="254000" cy="254000"/>
          </a:xfrm>
          <a:prstGeom prst="rect">
            <a:avLst/>
          </a:prstGeom>
        </p:spPr>
      </p:pic>
      <p:sp>
        <p:nvSpPr>
          <p:cNvPr id="18" name="Text 13"/>
          <p:cNvSpPr/>
          <p:nvPr/>
        </p:nvSpPr>
        <p:spPr>
          <a:xfrm>
            <a:off x="6680200" y="4172452"/>
            <a:ext cx="483997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EEF2F6"/>
                </a:solidFill>
                <a:latin typeface="Public Sans" pitchFamily="34" charset="0"/>
                <a:ea typeface="Public Sans" pitchFamily="34" charset="-122"/>
                <a:cs typeface="Public Sans" pitchFamily="34" charset="-120"/>
              </a:rPr>
              <a:t>Still good at hiring</a:t>
            </a:r>
            <a:endParaRPr lang="en-US" sz="1500" dirty="0"/>
          </a:p>
        </p:txBody>
      </p:sp>
      <p:sp>
        <p:nvSpPr>
          <p:cNvPr id="19" name="Text 14"/>
          <p:cNvSpPr/>
          <p:nvPr/>
        </p:nvSpPr>
        <p:spPr>
          <a:xfrm>
            <a:off x="6680200" y="4464552"/>
            <a:ext cx="4839970"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B9C4D0"/>
                </a:solidFill>
                <a:latin typeface="Public Sans" pitchFamily="34" charset="0"/>
                <a:ea typeface="Public Sans" pitchFamily="34" charset="-122"/>
                <a:cs typeface="Public Sans" pitchFamily="34" charset="-120"/>
              </a:rPr>
              <a:t>For both name groups, on 60 CVs it never saw</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CFD"/>
        </a:solidFill>
        <a:effectLst/>
      </p:bgPr>
    </p:bg>
    <p:spTree>
      <p:nvGrpSpPr>
        <p:cNvPr id="1" name=""/>
        <p:cNvGrpSpPr/>
        <p:nvPr/>
      </p:nvGrpSpPr>
      <p:grpSpPr>
        <a:xfrm>
          <a:off x="0" y="0"/>
          <a:ext cx="0" cy="0"/>
          <a:chOff x="0" y="0"/>
          <a:chExt cx="0" cy="0"/>
        </a:xfrm>
      </p:grpSpPr>
      <p:sp>
        <p:nvSpPr>
          <p:cNvPr id="2" name="Text 0"/>
          <p:cNvSpPr/>
          <p:nvPr/>
        </p:nvSpPr>
        <p:spPr>
          <a:xfrm>
            <a:off x="762000" y="406400"/>
            <a:ext cx="10988040" cy="23872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C4561B"/>
                </a:solidFill>
                <a:latin typeface="JetBrains Mono" pitchFamily="49" charset="0"/>
                <a:ea typeface="JetBrains Mono" pitchFamily="49" charset="-122"/>
                <a:cs typeface="JetBrains Mono" pitchFamily="49" charset="-120"/>
              </a:rPr>
              <a:t>HOW WE FIXED IT · THREE APPROACHES, ONE PASSES</a:t>
            </a:r>
            <a:endParaRPr lang="en-US" sz="1200" dirty="0"/>
          </a:p>
        </p:txBody>
      </p:sp>
      <p:sp>
        <p:nvSpPr>
          <p:cNvPr id="3" name="Text 1"/>
          <p:cNvSpPr>
            <a:spLocks noGrp="1"/>
          </p:cNvSpPr>
          <p:nvPr>
            <p:ph type="title"/>
          </p:nvPr>
        </p:nvSpPr>
        <p:spPr>
          <a:xfrm>
            <a:off x="762000" y="670520"/>
            <a:ext cx="10988040" cy="807641"/>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4202E"/>
                </a:solidFill>
                <a:latin typeface="Archivo" pitchFamily="34" charset="0"/>
                <a:ea typeface="Archivo" pitchFamily="34" charset="-122"/>
                <a:cs typeface="Archivo" pitchFamily="34" charset="-120"/>
              </a:rPr>
              <a:t>Fixing answers alone hides the bias. Ours brings every late layer to clean.</a:t>
            </a:r>
            <a:endParaRPr lang="en-US" sz="2800" dirty="0"/>
          </a:p>
        </p:txBody>
      </p:sp>
      <p:sp>
        <p:nvSpPr>
          <p:cNvPr id="4" name="Shape 2"/>
          <p:cNvSpPr/>
          <p:nvPr/>
        </p:nvSpPr>
        <p:spPr>
          <a:xfrm>
            <a:off x="768350" y="1586111"/>
            <a:ext cx="3441700" cy="1687761"/>
          </a:xfrm>
          <a:prstGeom prst="roundRect">
            <a:avLst>
              <a:gd name="adj" fmla="val 4891"/>
            </a:avLst>
          </a:prstGeom>
          <a:solidFill>
            <a:srgbClr val="EEF2F6"/>
          </a:solidFill>
          <a:ln w="12700">
            <a:solidFill>
              <a:srgbClr val="D9DFE7"/>
            </a:solidFill>
            <a:prstDash val="solid"/>
          </a:ln>
        </p:spPr>
        <p:txBody>
          <a:bodyPr/>
          <a:lstStyle/>
          <a:p>
            <a:endParaRPr lang="en-US"/>
          </a:p>
        </p:txBody>
      </p:sp>
      <p:sp>
        <p:nvSpPr>
          <p:cNvPr id="5" name="Text 3"/>
          <p:cNvSpPr/>
          <p:nvPr/>
        </p:nvSpPr>
        <p:spPr>
          <a:xfrm>
            <a:off x="952500" y="1744861"/>
            <a:ext cx="316560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4561B"/>
                </a:solidFill>
                <a:latin typeface="JetBrains Mono" pitchFamily="49" charset="0"/>
                <a:ea typeface="JetBrains Mono" pitchFamily="49" charset="-122"/>
                <a:cs typeface="JetBrains Mono" pitchFamily="49" charset="-120"/>
              </a:rPr>
              <a:t>1 · Project it out</a:t>
            </a:r>
            <a:endParaRPr lang="en-US" sz="1200" dirty="0"/>
          </a:p>
        </p:txBody>
      </p:sp>
      <p:sp>
        <p:nvSpPr>
          <p:cNvPr id="6" name="Text 4"/>
          <p:cNvSpPr/>
          <p:nvPr/>
        </p:nvSpPr>
        <p:spPr>
          <a:xfrm>
            <a:off x="952500" y="2008981"/>
            <a:ext cx="3165602" cy="463550"/>
          </a:xfrm>
          <a:prstGeom prst="rect">
            <a:avLst/>
          </a:prstGeom>
          <a:noFill/>
          <a:ln/>
        </p:spPr>
        <p:txBody>
          <a:bodyPr wrap="square" lIns="0" tIns="0" rIns="0" bIns="0" rtlCol="0" anchor="t">
            <a:normAutofit/>
          </a:bodyPr>
          <a:lstStyle/>
          <a:p>
            <a:pPr marL="0" indent="0" algn="l">
              <a:lnSpc>
                <a:spcPts val="1725"/>
              </a:lnSpc>
              <a:buNone/>
            </a:pPr>
            <a:r>
              <a:rPr lang="en-US" sz="1500" b="1" dirty="0">
                <a:solidFill>
                  <a:srgbClr val="14202E"/>
                </a:solidFill>
                <a:latin typeface="Archivo" pitchFamily="34" charset="0"/>
                <a:ea typeface="Archivo" pitchFamily="34" charset="-122"/>
                <a:cs typeface="Archivo" pitchFamily="34" charset="-120"/>
              </a:rPr>
              <a:t>Delete the name direction while it runs</a:t>
            </a:r>
            <a:endParaRPr lang="en-US" sz="1500" dirty="0"/>
          </a:p>
        </p:txBody>
      </p:sp>
      <p:sp>
        <p:nvSpPr>
          <p:cNvPr id="7" name="Text 5"/>
          <p:cNvSpPr/>
          <p:nvPr/>
        </p:nvSpPr>
        <p:spPr>
          <a:xfrm>
            <a:off x="952500" y="2497931"/>
            <a:ext cx="3165602" cy="64259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A4756"/>
                </a:solidFill>
                <a:latin typeface="Public Sans" pitchFamily="34" charset="0"/>
                <a:ea typeface="Public Sans" pitchFamily="34" charset="-122"/>
                <a:cs typeface="Public Sans" pitchFamily="34" charset="-120"/>
              </a:rPr>
              <a:t>No retraining. 39–49% of the late-layer bias stays: the model routes around the cut. A fast patch, not a cure.</a:t>
            </a:r>
            <a:endParaRPr lang="en-US" sz="1200" dirty="0"/>
          </a:p>
        </p:txBody>
      </p:sp>
      <p:sp>
        <p:nvSpPr>
          <p:cNvPr id="8" name="Shape 6"/>
          <p:cNvSpPr/>
          <p:nvPr/>
        </p:nvSpPr>
        <p:spPr>
          <a:xfrm>
            <a:off x="4375150" y="1586111"/>
            <a:ext cx="3441700" cy="1687761"/>
          </a:xfrm>
          <a:prstGeom prst="roundRect">
            <a:avLst>
              <a:gd name="adj" fmla="val 4891"/>
            </a:avLst>
          </a:prstGeom>
          <a:solidFill>
            <a:srgbClr val="EEF2F6"/>
          </a:solidFill>
          <a:ln w="12700">
            <a:solidFill>
              <a:srgbClr val="D9DFE7"/>
            </a:solidFill>
            <a:prstDash val="solid"/>
          </a:ln>
        </p:spPr>
        <p:txBody>
          <a:bodyPr/>
          <a:lstStyle/>
          <a:p>
            <a:endParaRPr lang="en-US"/>
          </a:p>
        </p:txBody>
      </p:sp>
      <p:sp>
        <p:nvSpPr>
          <p:cNvPr id="9" name="Text 7"/>
          <p:cNvSpPr/>
          <p:nvPr/>
        </p:nvSpPr>
        <p:spPr>
          <a:xfrm>
            <a:off x="4559300" y="1744861"/>
            <a:ext cx="316560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4561B"/>
                </a:solidFill>
                <a:latin typeface="JetBrains Mono" pitchFamily="49" charset="0"/>
                <a:ea typeface="JetBrains Mono" pitchFamily="49" charset="-122"/>
                <a:cs typeface="JetBrains Mono" pitchFamily="49" charset="-120"/>
              </a:rPr>
              <a:t>2 · Retrain on fair answers</a:t>
            </a:r>
            <a:endParaRPr lang="en-US" sz="1200" dirty="0"/>
          </a:p>
        </p:txBody>
      </p:sp>
      <p:sp>
        <p:nvSpPr>
          <p:cNvPr id="10" name="Text 8"/>
          <p:cNvSpPr/>
          <p:nvPr/>
        </p:nvSpPr>
        <p:spPr>
          <a:xfrm>
            <a:off x="4559300" y="2008981"/>
            <a:ext cx="3165602" cy="463550"/>
          </a:xfrm>
          <a:prstGeom prst="rect">
            <a:avLst/>
          </a:prstGeom>
          <a:noFill/>
          <a:ln/>
        </p:spPr>
        <p:txBody>
          <a:bodyPr wrap="square" lIns="0" tIns="0" rIns="0" bIns="0" rtlCol="0" anchor="t">
            <a:normAutofit/>
          </a:bodyPr>
          <a:lstStyle/>
          <a:p>
            <a:pPr marL="0" indent="0" algn="l">
              <a:lnSpc>
                <a:spcPts val="1725"/>
              </a:lnSpc>
              <a:buNone/>
            </a:pPr>
            <a:r>
              <a:rPr lang="en-US" sz="1500" b="1" dirty="0">
                <a:solidFill>
                  <a:srgbClr val="14202E"/>
                </a:solidFill>
                <a:latin typeface="Archivo" pitchFamily="34" charset="0"/>
                <a:ea typeface="Archivo" pitchFamily="34" charset="-122"/>
                <a:cs typeface="Archivo" pitchFamily="34" charset="-120"/>
              </a:rPr>
              <a:t>Teach Yes/No labels that ignore the name</a:t>
            </a:r>
            <a:endParaRPr lang="en-US" sz="1500" dirty="0"/>
          </a:p>
        </p:txBody>
      </p:sp>
      <p:sp>
        <p:nvSpPr>
          <p:cNvPr id="11" name="Text 9"/>
          <p:cNvSpPr/>
          <p:nvPr/>
        </p:nvSpPr>
        <p:spPr>
          <a:xfrm>
            <a:off x="4559300" y="2497931"/>
            <a:ext cx="3165602" cy="64259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A4756"/>
                </a:solidFill>
                <a:latin typeface="Public Sans" pitchFamily="34" charset="0"/>
                <a:ea typeface="Public Sans" pitchFamily="34" charset="-122"/>
                <a:cs typeface="Public Sans" pitchFamily="34" charset="-120"/>
              </a:rPr>
              <a:t>Gap 0.03, so it looks fixed. But late layers keep 2.6× a clean model's bias. The trap most fixes fall into.</a:t>
            </a:r>
            <a:endParaRPr lang="en-US" sz="1200" dirty="0"/>
          </a:p>
        </p:txBody>
      </p:sp>
      <p:sp>
        <p:nvSpPr>
          <p:cNvPr id="12" name="Shape 10"/>
          <p:cNvSpPr/>
          <p:nvPr/>
        </p:nvSpPr>
        <p:spPr>
          <a:xfrm>
            <a:off x="7981950" y="1586111"/>
            <a:ext cx="3441700" cy="1687761"/>
          </a:xfrm>
          <a:prstGeom prst="roundRect">
            <a:avLst>
              <a:gd name="adj" fmla="val 4891"/>
            </a:avLst>
          </a:prstGeom>
          <a:solidFill>
            <a:srgbClr val="E8F0FD"/>
          </a:solidFill>
          <a:ln w="12700">
            <a:solidFill>
              <a:srgbClr val="2F6FD6"/>
            </a:solidFill>
            <a:prstDash val="solid"/>
          </a:ln>
        </p:spPr>
        <p:txBody>
          <a:bodyPr/>
          <a:lstStyle/>
          <a:p>
            <a:endParaRPr lang="en-US"/>
          </a:p>
        </p:txBody>
      </p:sp>
      <p:sp>
        <p:nvSpPr>
          <p:cNvPr id="13" name="Text 11"/>
          <p:cNvSpPr/>
          <p:nvPr/>
        </p:nvSpPr>
        <p:spPr>
          <a:xfrm>
            <a:off x="8166100" y="1744861"/>
            <a:ext cx="316560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4FA8"/>
                </a:solidFill>
                <a:latin typeface="JetBrains Mono" pitchFamily="49" charset="0"/>
                <a:ea typeface="JetBrains Mono" pitchFamily="49" charset="-122"/>
                <a:cs typeface="JetBrains Mono" pitchFamily="49" charset="-120"/>
              </a:rPr>
              <a:t>3 · Retrain + same activations</a:t>
            </a:r>
            <a:endParaRPr lang="en-US" sz="1200" dirty="0"/>
          </a:p>
        </p:txBody>
      </p:sp>
      <p:sp>
        <p:nvSpPr>
          <p:cNvPr id="14" name="Text 12"/>
          <p:cNvSpPr/>
          <p:nvPr/>
        </p:nvSpPr>
        <p:spPr>
          <a:xfrm>
            <a:off x="8166100" y="2008981"/>
            <a:ext cx="3165602" cy="463550"/>
          </a:xfrm>
          <a:prstGeom prst="rect">
            <a:avLst/>
          </a:prstGeom>
          <a:noFill/>
          <a:ln/>
        </p:spPr>
        <p:txBody>
          <a:bodyPr wrap="square" lIns="0" tIns="0" rIns="0" bIns="0" rtlCol="0" anchor="t">
            <a:normAutofit/>
          </a:bodyPr>
          <a:lstStyle/>
          <a:p>
            <a:pPr marL="0" indent="0" algn="l">
              <a:lnSpc>
                <a:spcPts val="1725"/>
              </a:lnSpc>
              <a:buNone/>
            </a:pPr>
            <a:r>
              <a:rPr lang="en-US" sz="1500" b="1" dirty="0">
                <a:solidFill>
                  <a:srgbClr val="14202E"/>
                </a:solidFill>
                <a:latin typeface="Archivo" pitchFamily="34" charset="0"/>
                <a:ea typeface="Archivo" pitchFamily="34" charset="-122"/>
                <a:cs typeface="Archivo" pitchFamily="34" charset="-120"/>
              </a:rPr>
              <a:t>Also make Emily and Lakisha look identical inside</a:t>
            </a:r>
            <a:endParaRPr lang="en-US" sz="1500" dirty="0"/>
          </a:p>
        </p:txBody>
      </p:sp>
      <p:sp>
        <p:nvSpPr>
          <p:cNvPr id="15" name="Text 13"/>
          <p:cNvSpPr/>
          <p:nvPr/>
        </p:nvSpPr>
        <p:spPr>
          <a:xfrm>
            <a:off x="8166100" y="2497931"/>
            <a:ext cx="3165602" cy="64259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A4756"/>
                </a:solidFill>
                <a:latin typeface="Public Sans" pitchFamily="34" charset="0"/>
                <a:ea typeface="Public Sans" pitchFamily="34" charset="-122"/>
                <a:cs typeface="Public Sans" pitchFamily="34" charset="-120"/>
              </a:rPr>
              <a:t>Penalise any activation difference, at every layer. Gap 0.00, late layers below a clean model, accuracy 0.95.</a:t>
            </a:r>
            <a:endParaRPr lang="en-US" sz="1200" dirty="0"/>
          </a:p>
        </p:txBody>
      </p:sp>
      <p:pic>
        <p:nvPicPr>
          <p:cNvPr id="16" name="Image 0" descr="Activation-space bias by layer, log scale: injected bias rises to 0.30 at layer 23; fair-answers-only retrain stays 2-4 times above the clean model in layers 15-22; our retrain sits at or below the clean model at every layer"/>
          <p:cNvPicPr>
            <a:picLocks noChangeAspect="1"/>
          </p:cNvPicPr>
          <p:nvPr/>
        </p:nvPicPr>
        <p:blipFill>
          <a:blip r:embed="rId3"/>
          <a:srcRect t="-12" b="-12"/>
          <a:stretch/>
        </p:blipFill>
        <p:spPr>
          <a:xfrm>
            <a:off x="2428875" y="3407221"/>
            <a:ext cx="7334250" cy="2794000"/>
          </a:xfrm>
          <a:prstGeom prst="rect">
            <a:avLst/>
          </a:prstGeom>
        </p:spPr>
      </p:pic>
      <p:sp>
        <p:nvSpPr>
          <p:cNvPr id="17" name="Text 14"/>
          <p:cNvSpPr/>
          <p:nvPr/>
        </p:nvSpPr>
        <p:spPr>
          <a:xfrm>
            <a:off x="762000" y="6390680"/>
            <a:ext cx="109880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889"/>
                </a:solidFill>
                <a:latin typeface="Public Sans" pitchFamily="34" charset="0"/>
                <a:ea typeface="Public Sans" pitchFamily="34" charset="-122"/>
                <a:cs typeface="Public Sans" pitchFamily="34" charset="-120"/>
              </a:rPr>
              <a:t>Activation-space bias by layer (Hannah's activation differential), 60 held-out resumes, Qwen2.5-0.5B with injected bias.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CF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304800" y="254000"/>
            <a:ext cx="11929872" cy="391120"/>
          </a:xfrm>
          <a:prstGeom prst="rect">
            <a:avLst/>
          </a:prstGeom>
          <a:noFill/>
          <a:ln/>
        </p:spPr>
        <p:txBody>
          <a:bodyPr wrap="square" lIns="0" tIns="0" rIns="0" bIns="0" rtlCol="0" anchor="t">
            <a:normAutofit/>
          </a:bodyPr>
          <a:lstStyle/>
          <a:p>
            <a:pPr marL="0" indent="0" algn="l">
              <a:lnSpc>
                <a:spcPts val="2880"/>
              </a:lnSpc>
              <a:buNone/>
            </a:pPr>
            <a:r>
              <a:rPr lang="en-US" sz="2400" b="1" i="0" dirty="0">
                <a:solidFill>
                  <a:srgbClr val="14202E"/>
                </a:solidFill>
                <a:latin typeface="Archivo" pitchFamily="34" charset="0"/>
                <a:ea typeface="Archivo" pitchFamily="34" charset="-122"/>
                <a:cs typeface="Archivo" pitchFamily="34" charset="-120"/>
              </a:rPr>
              <a:t>The self-check passes only our fix. Gap </a:t>
            </a:r>
            <a:r>
              <a:rPr lang="en-US" sz="2400" b="1" i="0" dirty="0">
                <a:solidFill>
                  <a:srgbClr val="C4561B"/>
                </a:solidFill>
                <a:latin typeface="Archivo" pitchFamily="34" charset="0"/>
                <a:ea typeface="Archivo" pitchFamily="34" charset="-122"/>
                <a:cs typeface="Archivo" pitchFamily="34" charset="-120"/>
              </a:rPr>
              <a:t>0.93</a:t>
            </a:r>
            <a:r>
              <a:rPr lang="en-US" sz="2400" b="1" i="0" dirty="0">
                <a:solidFill>
                  <a:srgbClr val="14202E"/>
                </a:solidFill>
                <a:latin typeface="Archivo" pitchFamily="34" charset="0"/>
                <a:ea typeface="Archivo" pitchFamily="34" charset="-122"/>
                <a:cs typeface="Archivo" pitchFamily="34" charset="-120"/>
              </a:rPr>
              <a:t> → </a:t>
            </a:r>
            <a:r>
              <a:rPr lang="en-US" sz="2400" b="1" i="0" dirty="0">
                <a:solidFill>
                  <a:srgbClr val="2F6FD6"/>
                </a:solidFill>
                <a:latin typeface="Archivo" pitchFamily="34" charset="0"/>
                <a:ea typeface="Archivo" pitchFamily="34" charset="-122"/>
                <a:cs typeface="Archivo" pitchFamily="34" charset="-120"/>
              </a:rPr>
              <a:t>0.00</a:t>
            </a:r>
            <a:r>
              <a:rPr lang="en-US" sz="2400" b="1" i="0" dirty="0">
                <a:solidFill>
                  <a:srgbClr val="14202E"/>
                </a:solidFill>
                <a:latin typeface="Archivo" pitchFamily="34" charset="0"/>
                <a:ea typeface="Archivo" pitchFamily="34" charset="-122"/>
                <a:cs typeface="Archivo" pitchFamily="34" charset="-120"/>
              </a:rPr>
              <a:t>.</a:t>
            </a:r>
            <a:endParaRPr lang="en-US" sz="2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317500" y="736600"/>
          <a:ext cx="11569700" cy="1330720"/>
        </p:xfrm>
        <a:graphic>
          <a:graphicData uri="http://schemas.openxmlformats.org/drawingml/2006/table">
            <a:tbl>
              <a:tblPr/>
              <a:tblGrid>
                <a:gridCol w="3470910">
                  <a:extLst>
                    <a:ext uri="{9D8B030D-6E8A-4147-A177-3AD203B41FA5}">
                      <a16:colId xmlns:a16="http://schemas.microsoft.com/office/drawing/2014/main" val="20000"/>
                    </a:ext>
                  </a:extLst>
                </a:gridCol>
                <a:gridCol w="2082546">
                  <a:extLst>
                    <a:ext uri="{9D8B030D-6E8A-4147-A177-3AD203B41FA5}">
                      <a16:colId xmlns:a16="http://schemas.microsoft.com/office/drawing/2014/main" val="20001"/>
                    </a:ext>
                  </a:extLst>
                </a:gridCol>
                <a:gridCol w="2545334">
                  <a:extLst>
                    <a:ext uri="{9D8B030D-6E8A-4147-A177-3AD203B41FA5}">
                      <a16:colId xmlns:a16="http://schemas.microsoft.com/office/drawing/2014/main" val="20002"/>
                    </a:ext>
                  </a:extLst>
                </a:gridCol>
                <a:gridCol w="2082546">
                  <a:extLst>
                    <a:ext uri="{9D8B030D-6E8A-4147-A177-3AD203B41FA5}">
                      <a16:colId xmlns:a16="http://schemas.microsoft.com/office/drawing/2014/main" val="20003"/>
                    </a:ext>
                  </a:extLst>
                </a:gridCol>
                <a:gridCol w="1388364">
                  <a:extLst>
                    <a:ext uri="{9D8B030D-6E8A-4147-A177-3AD203B41FA5}">
                      <a16:colId xmlns:a16="http://schemas.microsoft.com/office/drawing/2014/main" val="20004"/>
                    </a:ext>
                  </a:extLst>
                </a:gridCol>
              </a:tblGrid>
              <a:tr h="332680">
                <a:tc>
                  <a:txBody>
                    <a:bodyPr/>
                    <a:lstStyle/>
                    <a:p>
                      <a:pPr marL="0" indent="0">
                        <a:lnSpc>
                          <a:spcPts val="1680"/>
                        </a:lnSpc>
                        <a:buNone/>
                      </a:pPr>
                      <a:r>
                        <a:rPr lang="en-US" sz="1200" b="1" dirty="0">
                          <a:solidFill>
                            <a:srgbClr val="14202E"/>
                          </a:solidFill>
                          <a:latin typeface="Public Sans" pitchFamily="34" charset="0"/>
                          <a:ea typeface="Public Sans" pitchFamily="34" charset="-122"/>
                          <a:cs typeface="Public Sans" pitchFamily="34" charset="-120"/>
                        </a:rPr>
                        <a:t>Fix</a:t>
                      </a:r>
                      <a:endParaRPr lang="en-US" sz="1200" dirty="0">
                        <a:latin typeface="Public Sans" charset="0"/>
                        <a:ea typeface="Public Sans" charset="0"/>
                        <a:cs typeface="Public Sans" charset="0"/>
                      </a:endParaRPr>
                    </a:p>
                  </a:txBody>
                  <a:tcPr marL="53340" marR="53340" marT="53340" marB="53340">
                    <a:lnL w="12700" cap="flat" cmpd="sng" algn="ctr">
                      <a:solidFill>
                        <a:srgbClr val="C8C9CA"/>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680"/>
                        </a:lnSpc>
                        <a:buNone/>
                      </a:pPr>
                      <a:r>
                        <a:rPr lang="en-US" sz="1200" b="1" dirty="0">
                          <a:solidFill>
                            <a:srgbClr val="14202E"/>
                          </a:solidFill>
                          <a:latin typeface="Public Sans" pitchFamily="34" charset="0"/>
                          <a:ea typeface="Public Sans" pitchFamily="34" charset="-122"/>
                          <a:cs typeface="Public Sans" pitchFamily="34" charset="-120"/>
                        </a:rPr>
                        <a:t>1 · Fair answers (gap)</a:t>
                      </a:r>
                      <a:endParaRPr lang="en-US" sz="1200" dirty="0">
                        <a:latin typeface="Public Sans" charset="0"/>
                        <a:ea typeface="Public Sans" charset="0"/>
                        <a:cs typeface="Public Sans" charset="0"/>
                      </a:endParaRPr>
                    </a:p>
                  </a:txBody>
                  <a:tcPr marL="53340" marR="53340" marT="53340" marB="5334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680"/>
                        </a:lnSpc>
                        <a:buNone/>
                      </a:pPr>
                      <a:r>
                        <a:rPr lang="en-US" sz="1200" b="1" dirty="0">
                          <a:solidFill>
                            <a:srgbClr val="14202E"/>
                          </a:solidFill>
                          <a:latin typeface="Public Sans" pitchFamily="34" charset="0"/>
                          <a:ea typeface="Public Sans" pitchFamily="34" charset="-122"/>
                          <a:cs typeface="Public Sans" pitchFamily="34" charset="-120"/>
                        </a:rPr>
                        <a:t>2 · Inside: late layers vs clean</a:t>
                      </a:r>
                      <a:endParaRPr lang="en-US" sz="1200" dirty="0">
                        <a:latin typeface="Public Sans" charset="0"/>
                        <a:ea typeface="Public Sans" charset="0"/>
                        <a:cs typeface="Public Sans" charset="0"/>
                      </a:endParaRPr>
                    </a:p>
                  </a:txBody>
                  <a:tcPr marL="53340" marR="53340" marT="53340" marB="5334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680"/>
                        </a:lnSpc>
                        <a:buNone/>
                      </a:pPr>
                      <a:r>
                        <a:rPr lang="en-US" sz="1200" b="1" dirty="0">
                          <a:solidFill>
                            <a:srgbClr val="14202E"/>
                          </a:solidFill>
                          <a:latin typeface="Public Sans" pitchFamily="34" charset="0"/>
                          <a:ea typeface="Public Sans" pitchFamily="34" charset="-122"/>
                          <a:cs typeface="Public Sans" pitchFamily="34" charset="-120"/>
                        </a:rPr>
                        <a:t>3 · Good at hiring (W / B)</a:t>
                      </a:r>
                      <a:endParaRPr lang="en-US" sz="1200" dirty="0">
                        <a:latin typeface="Public Sans" charset="0"/>
                        <a:ea typeface="Public Sans" charset="0"/>
                        <a:cs typeface="Public Sans" charset="0"/>
                      </a:endParaRPr>
                    </a:p>
                  </a:txBody>
                  <a:tcPr marL="53340" marR="53340" marT="53340" marB="5334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tc>
                  <a:txBody>
                    <a:bodyPr/>
                    <a:lstStyle/>
                    <a:p>
                      <a:pPr marL="0" indent="0">
                        <a:lnSpc>
                          <a:spcPts val="1680"/>
                        </a:lnSpc>
                        <a:buNone/>
                      </a:pPr>
                      <a:r>
                        <a:rPr lang="en-US" sz="1200" b="1" dirty="0">
                          <a:solidFill>
                            <a:srgbClr val="14202E"/>
                          </a:solidFill>
                          <a:latin typeface="Public Sans" pitchFamily="34" charset="0"/>
                          <a:ea typeface="Public Sans" pitchFamily="34" charset="-122"/>
                          <a:cs typeface="Public Sans" pitchFamily="34" charset="-120"/>
                        </a:rPr>
                        <a:t>Verdict</a:t>
                      </a:r>
                      <a:endParaRPr lang="en-US" sz="1200" dirty="0">
                        <a:latin typeface="Public Sans" charset="0"/>
                        <a:ea typeface="Public Sans" charset="0"/>
                        <a:cs typeface="Public Sans" charset="0"/>
                      </a:endParaRPr>
                    </a:p>
                  </a:txBody>
                  <a:tcPr marL="53340" marR="53340" marT="53340" marB="53340">
                    <a:lnL w="12700" cap="flat" cmpd="sng" algn="ctr">
                      <a:solidFill>
                        <a:srgbClr val="BABABB"/>
                      </a:solidFill>
                      <a:prstDash val="solid"/>
                      <a:round/>
                      <a:headEnd type="none" w="med" len="med"/>
                      <a:tailEnd type="none" w="med" len="med"/>
                    </a:lnL>
                    <a:lnR w="12700" cap="flat" cmpd="sng" algn="ctr">
                      <a:solidFill>
                        <a:srgbClr val="BABABB"/>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ABABB"/>
                      </a:solidFill>
                      <a:prstDash val="solid"/>
                      <a:round/>
                      <a:headEnd type="none" w="med" len="med"/>
                      <a:tailEnd type="none" w="med" len="med"/>
                    </a:lnB>
                    <a:solidFill>
                      <a:srgbClr val="E9E9EA"/>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14202E"/>
                          </a:solidFill>
                          <a:latin typeface="Public Sans" pitchFamily="34" charset="0"/>
                          <a:ea typeface="Public Sans" pitchFamily="34" charset="-122"/>
                          <a:cs typeface="Public Sans" pitchFamily="34" charset="-120"/>
                        </a:rPr>
                        <a:t>Usual fix: erase all late layers</a:t>
                      </a:r>
                      <a:endParaRPr lang="en-US" sz="1200" dirty="0">
                        <a:latin typeface="Public Sans" charset="0"/>
                        <a:ea typeface="Public Sans" charset="0"/>
                        <a:cs typeface="Public Sans" charset="0"/>
                      </a:endParaRPr>
                    </a:p>
                  </a:txBody>
                  <a:tcPr marL="53340" marR="53340" marT="53340" marB="53340">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tc>
                  <a:txBody>
                    <a:bodyPr/>
                    <a:lstStyle/>
                    <a:p>
                      <a:pPr marL="0" indent="0">
                        <a:lnSpc>
                          <a:spcPts val="1680"/>
                        </a:lnSpc>
                        <a:buNone/>
                      </a:pPr>
                      <a:r>
                        <a:rPr lang="en-US" sz="1200" dirty="0">
                          <a:solidFill>
                            <a:srgbClr val="14202E"/>
                          </a:solidFill>
                          <a:latin typeface="Public Sans" pitchFamily="34" charset="0"/>
                          <a:ea typeface="Public Sans" pitchFamily="34" charset="-122"/>
                          <a:cs typeface="Public Sans" pitchFamily="34" charset="-120"/>
                        </a:rPr>
                        <a:t>0.13 fail</a:t>
                      </a:r>
                      <a:endParaRPr lang="en-US" sz="1200" dirty="0">
                        <a:latin typeface="Public Sans" charset="0"/>
                        <a:ea typeface="Public Sans" charset="0"/>
                        <a:cs typeface="Public Sans" charset="0"/>
                      </a:endParaRPr>
                    </a:p>
                  </a:txBody>
                  <a:tcPr marL="53340" marR="53340" marT="53340" marB="53340">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tc>
                  <a:txBody>
                    <a:bodyPr/>
                    <a:lstStyle/>
                    <a:p>
                      <a:pPr marL="0" indent="0">
                        <a:lnSpc>
                          <a:spcPts val="1680"/>
                        </a:lnSpc>
                        <a:buNone/>
                      </a:pPr>
                      <a:r>
                        <a:rPr lang="en-US" sz="1200" dirty="0">
                          <a:solidFill>
                            <a:srgbClr val="14202E"/>
                          </a:solidFill>
                          <a:latin typeface="Public Sans" pitchFamily="34" charset="0"/>
                          <a:ea typeface="Public Sans" pitchFamily="34" charset="-122"/>
                          <a:cs typeface="Public Sans" pitchFamily="34" charset="-120"/>
                        </a:rPr>
                        <a:t>5.2× fail</a:t>
                      </a:r>
                      <a:endParaRPr lang="en-US" sz="1200" dirty="0">
                        <a:latin typeface="Public Sans" charset="0"/>
                        <a:ea typeface="Public Sans" charset="0"/>
                        <a:cs typeface="Public Sans" charset="0"/>
                      </a:endParaRPr>
                    </a:p>
                  </a:txBody>
                  <a:tcPr marL="53340" marR="53340" marT="53340" marB="53340">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tc>
                  <a:txBody>
                    <a:bodyPr/>
                    <a:lstStyle/>
                    <a:p>
                      <a:pPr marL="0" indent="0">
                        <a:lnSpc>
                          <a:spcPts val="1680"/>
                        </a:lnSpc>
                        <a:buNone/>
                      </a:pPr>
                      <a:r>
                        <a:rPr lang="en-US" sz="1200" dirty="0">
                          <a:solidFill>
                            <a:srgbClr val="14202E"/>
                          </a:solidFill>
                          <a:latin typeface="Public Sans" pitchFamily="34" charset="0"/>
                          <a:ea typeface="Public Sans" pitchFamily="34" charset="-122"/>
                          <a:cs typeface="Public Sans" pitchFamily="34" charset="-120"/>
                        </a:rPr>
                        <a:t>0.88 / 0.89 pass</a:t>
                      </a:r>
                      <a:endParaRPr lang="en-US" sz="1200" dirty="0">
                        <a:latin typeface="Public Sans" charset="0"/>
                        <a:ea typeface="Public Sans" charset="0"/>
                        <a:cs typeface="Public Sans" charset="0"/>
                      </a:endParaRPr>
                    </a:p>
                  </a:txBody>
                  <a:tcPr marL="53340" marR="53340" marT="53340" marB="53340">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tc>
                  <a:txBody>
                    <a:bodyPr/>
                    <a:lstStyle/>
                    <a:p>
                      <a:pPr marL="0" indent="0">
                        <a:lnSpc>
                          <a:spcPts val="1680"/>
                        </a:lnSpc>
                        <a:buNone/>
                      </a:pPr>
                      <a:r>
                        <a:rPr lang="en-US" sz="1200" dirty="0">
                          <a:solidFill>
                            <a:srgbClr val="14202E"/>
                          </a:solidFill>
                          <a:latin typeface="Public Sans" pitchFamily="34" charset="0"/>
                          <a:ea typeface="Public Sans" pitchFamily="34" charset="-122"/>
                          <a:cs typeface="Public Sans" pitchFamily="34" charset="-120"/>
                        </a:rPr>
                        <a:t>Refused</a:t>
                      </a:r>
                      <a:endParaRPr lang="en-US" sz="1200" dirty="0">
                        <a:latin typeface="Public Sans" charset="0"/>
                        <a:ea typeface="Public Sans" charset="0"/>
                        <a:cs typeface="Public Sans" charset="0"/>
                      </a:endParaRPr>
                    </a:p>
                  </a:txBody>
                  <a:tcPr marL="53340" marR="53340" marT="53340" marB="53340">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ABABB"/>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14202E"/>
                          </a:solidFill>
                          <a:latin typeface="Public Sans" pitchFamily="34" charset="0"/>
                          <a:ea typeface="Public Sans" pitchFamily="34" charset="-122"/>
                          <a:cs typeface="Public Sans" pitchFamily="34" charset="-120"/>
                        </a:rPr>
                        <a:t>Retrain: fair answers only</a:t>
                      </a:r>
                      <a:endParaRPr lang="en-US" sz="1200" dirty="0">
                        <a:latin typeface="Public Sans" charset="0"/>
                        <a:ea typeface="Public Sans" charset="0"/>
                        <a:cs typeface="Public Sans" charset="0"/>
                      </a:endParaRPr>
                    </a:p>
                  </a:txBody>
                  <a:tcPr marL="53340" marR="53340" marT="53340" marB="53340">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tc>
                  <a:txBody>
                    <a:bodyPr/>
                    <a:lstStyle/>
                    <a:p>
                      <a:pPr marL="0" indent="0">
                        <a:lnSpc>
                          <a:spcPts val="1680"/>
                        </a:lnSpc>
                        <a:buNone/>
                      </a:pPr>
                      <a:r>
                        <a:rPr lang="en-US" sz="1200" dirty="0">
                          <a:solidFill>
                            <a:srgbClr val="14202E"/>
                          </a:solidFill>
                          <a:latin typeface="Public Sans" pitchFamily="34" charset="0"/>
                          <a:ea typeface="Public Sans" pitchFamily="34" charset="-122"/>
                          <a:cs typeface="Public Sans" pitchFamily="34" charset="-120"/>
                        </a:rPr>
                        <a:t>0.03 pass</a:t>
                      </a:r>
                      <a:endParaRPr lang="en-US" sz="1200" dirty="0">
                        <a:latin typeface="Public Sans" charset="0"/>
                        <a:ea typeface="Public Sans" charset="0"/>
                        <a:cs typeface="Public Sans" charset="0"/>
                      </a:endParaRPr>
                    </a:p>
                  </a:txBody>
                  <a:tcPr marL="53340" marR="53340" marT="53340" marB="53340">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tc>
                  <a:txBody>
                    <a:bodyPr/>
                    <a:lstStyle/>
                    <a:p>
                      <a:pPr marL="0" indent="0">
                        <a:lnSpc>
                          <a:spcPts val="1680"/>
                        </a:lnSpc>
                        <a:buNone/>
                      </a:pPr>
                      <a:r>
                        <a:rPr lang="en-US" sz="1200" dirty="0">
                          <a:solidFill>
                            <a:srgbClr val="14202E"/>
                          </a:solidFill>
                          <a:latin typeface="Public Sans" pitchFamily="34" charset="0"/>
                          <a:ea typeface="Public Sans" pitchFamily="34" charset="-122"/>
                          <a:cs typeface="Public Sans" pitchFamily="34" charset="-120"/>
                        </a:rPr>
                        <a:t>2.6× fail</a:t>
                      </a:r>
                      <a:endParaRPr lang="en-US" sz="1200" dirty="0">
                        <a:latin typeface="Public Sans" charset="0"/>
                        <a:ea typeface="Public Sans" charset="0"/>
                        <a:cs typeface="Public Sans" charset="0"/>
                      </a:endParaRPr>
                    </a:p>
                  </a:txBody>
                  <a:tcPr marL="53340" marR="53340" marT="53340" marB="53340">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tc>
                  <a:txBody>
                    <a:bodyPr/>
                    <a:lstStyle/>
                    <a:p>
                      <a:pPr marL="0" indent="0">
                        <a:lnSpc>
                          <a:spcPts val="1680"/>
                        </a:lnSpc>
                        <a:buNone/>
                      </a:pPr>
                      <a:r>
                        <a:rPr lang="en-US" sz="1200" dirty="0">
                          <a:solidFill>
                            <a:srgbClr val="14202E"/>
                          </a:solidFill>
                          <a:latin typeface="Public Sans" pitchFamily="34" charset="0"/>
                          <a:ea typeface="Public Sans" pitchFamily="34" charset="-122"/>
                          <a:cs typeface="Public Sans" pitchFamily="34" charset="-120"/>
                        </a:rPr>
                        <a:t>0.91 / 0.93 pass</a:t>
                      </a:r>
                      <a:endParaRPr lang="en-US" sz="1200" dirty="0">
                        <a:latin typeface="Public Sans" charset="0"/>
                        <a:ea typeface="Public Sans" charset="0"/>
                        <a:cs typeface="Public Sans" charset="0"/>
                      </a:endParaRPr>
                    </a:p>
                  </a:txBody>
                  <a:tcPr marL="53340" marR="53340" marT="53340" marB="53340">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tc>
                  <a:txBody>
                    <a:bodyPr/>
                    <a:lstStyle/>
                    <a:p>
                      <a:pPr marL="0" indent="0">
                        <a:lnSpc>
                          <a:spcPts val="1680"/>
                        </a:lnSpc>
                        <a:buNone/>
                      </a:pPr>
                      <a:r>
                        <a:rPr lang="en-US" sz="1200" dirty="0">
                          <a:solidFill>
                            <a:srgbClr val="14202E"/>
                          </a:solidFill>
                          <a:latin typeface="Public Sans" pitchFamily="34" charset="0"/>
                          <a:ea typeface="Public Sans" pitchFamily="34" charset="-122"/>
                          <a:cs typeface="Public Sans" pitchFamily="34" charset="-120"/>
                        </a:rPr>
                        <a:t>Refused</a:t>
                      </a:r>
                      <a:endParaRPr lang="en-US" sz="1200" dirty="0">
                        <a:latin typeface="Public Sans" charset="0"/>
                        <a:ea typeface="Public Sans" charset="0"/>
                        <a:cs typeface="Public Sans" charset="0"/>
                      </a:endParaRPr>
                    </a:p>
                  </a:txBody>
                  <a:tcPr marL="53340" marR="53340" marT="53340" marB="53340">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C8C9CA"/>
                      </a:solidFill>
                      <a:prstDash val="solid"/>
                      <a:round/>
                      <a:headEnd type="none" w="med" len="med"/>
                      <a:tailEnd type="none" w="med" len="med"/>
                    </a:lnB>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14202E"/>
                          </a:solidFill>
                          <a:latin typeface="Public Sans" pitchFamily="34" charset="0"/>
                          <a:ea typeface="Public Sans" pitchFamily="34" charset="-122"/>
                          <a:cs typeface="Public Sans" pitchFamily="34" charset="-120"/>
                        </a:rPr>
                        <a:t>Retrain: + same thoughts (ours)</a:t>
                      </a:r>
                      <a:endParaRPr lang="en-US" sz="1200" dirty="0">
                        <a:latin typeface="Public Sans" charset="0"/>
                        <a:ea typeface="Public Sans" charset="0"/>
                        <a:cs typeface="Public Sans" charset="0"/>
                      </a:endParaRPr>
                    </a:p>
                  </a:txBody>
                  <a:tcPr marL="53340" marR="53340" marT="53340" marB="53340">
                    <a:lnL w="12700" cap="flat" cmpd="sng" algn="ctr">
                      <a:solidFill>
                        <a:srgbClr val="C8C9CA"/>
                      </a:solidFill>
                      <a:prstDash val="solid"/>
                      <a:round/>
                      <a:headEnd type="none" w="med" len="med"/>
                      <a:tailEnd type="none" w="med" len="med"/>
                    </a:lnL>
                    <a:lnR w="12700" cap="flat" cmpd="sng" algn="ctr">
                      <a:solidFill>
                        <a:srgbClr val="B9C0CA"/>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9C0CA"/>
                      </a:solidFill>
                      <a:prstDash val="solid"/>
                      <a:round/>
                      <a:headEnd type="none" w="med" len="med"/>
                      <a:tailEnd type="none" w="med" len="med"/>
                    </a:lnB>
                    <a:solidFill>
                      <a:srgbClr val="E8F0FD"/>
                    </a:solidFill>
                  </a:tcPr>
                </a:tc>
                <a:tc>
                  <a:txBody>
                    <a:bodyPr/>
                    <a:lstStyle/>
                    <a:p>
                      <a:pPr marL="0" indent="0">
                        <a:lnSpc>
                          <a:spcPts val="1680"/>
                        </a:lnSpc>
                        <a:buNone/>
                      </a:pPr>
                      <a:r>
                        <a:rPr lang="en-US" sz="1200" dirty="0">
                          <a:solidFill>
                            <a:srgbClr val="14202E"/>
                          </a:solidFill>
                          <a:latin typeface="Public Sans" pitchFamily="34" charset="0"/>
                          <a:ea typeface="Public Sans" pitchFamily="34" charset="-122"/>
                          <a:cs typeface="Public Sans" pitchFamily="34" charset="-120"/>
                        </a:rPr>
                        <a:t>0.00 pass</a:t>
                      </a:r>
                      <a:endParaRPr lang="en-US" sz="1200" dirty="0">
                        <a:latin typeface="Public Sans" charset="0"/>
                        <a:ea typeface="Public Sans" charset="0"/>
                        <a:cs typeface="Public Sans" charset="0"/>
                      </a:endParaRPr>
                    </a:p>
                  </a:txBody>
                  <a:tcPr marL="53340" marR="53340" marT="53340" marB="53340">
                    <a:lnL w="12700" cap="flat" cmpd="sng" algn="ctr">
                      <a:solidFill>
                        <a:srgbClr val="B9C0CA"/>
                      </a:solidFill>
                      <a:prstDash val="solid"/>
                      <a:round/>
                      <a:headEnd type="none" w="med" len="med"/>
                      <a:tailEnd type="none" w="med" len="med"/>
                    </a:lnL>
                    <a:lnR w="12700" cap="flat" cmpd="sng" algn="ctr">
                      <a:solidFill>
                        <a:srgbClr val="B9C0CA"/>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9C0CA"/>
                      </a:solidFill>
                      <a:prstDash val="solid"/>
                      <a:round/>
                      <a:headEnd type="none" w="med" len="med"/>
                      <a:tailEnd type="none" w="med" len="med"/>
                    </a:lnB>
                    <a:solidFill>
                      <a:srgbClr val="E8F0FD"/>
                    </a:solidFill>
                  </a:tcPr>
                </a:tc>
                <a:tc>
                  <a:txBody>
                    <a:bodyPr/>
                    <a:lstStyle/>
                    <a:p>
                      <a:pPr marL="0" indent="0">
                        <a:lnSpc>
                          <a:spcPts val="1680"/>
                        </a:lnSpc>
                        <a:buNone/>
                      </a:pPr>
                      <a:r>
                        <a:rPr lang="en-US" sz="1200" dirty="0">
                          <a:solidFill>
                            <a:srgbClr val="14202E"/>
                          </a:solidFill>
                          <a:latin typeface="Public Sans" pitchFamily="34" charset="0"/>
                          <a:ea typeface="Public Sans" pitchFamily="34" charset="-122"/>
                          <a:cs typeface="Public Sans" pitchFamily="34" charset="-120"/>
                        </a:rPr>
                        <a:t>0.46× pass</a:t>
                      </a:r>
                      <a:endParaRPr lang="en-US" sz="1200" dirty="0">
                        <a:latin typeface="Public Sans" charset="0"/>
                        <a:ea typeface="Public Sans" charset="0"/>
                        <a:cs typeface="Public Sans" charset="0"/>
                      </a:endParaRPr>
                    </a:p>
                  </a:txBody>
                  <a:tcPr marL="53340" marR="53340" marT="53340" marB="53340">
                    <a:lnL w="12700" cap="flat" cmpd="sng" algn="ctr">
                      <a:solidFill>
                        <a:srgbClr val="B9C0CA"/>
                      </a:solidFill>
                      <a:prstDash val="solid"/>
                      <a:round/>
                      <a:headEnd type="none" w="med" len="med"/>
                      <a:tailEnd type="none" w="med" len="med"/>
                    </a:lnL>
                    <a:lnR w="12700" cap="flat" cmpd="sng" algn="ctr">
                      <a:solidFill>
                        <a:srgbClr val="B9C0CA"/>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9C0CA"/>
                      </a:solidFill>
                      <a:prstDash val="solid"/>
                      <a:round/>
                      <a:headEnd type="none" w="med" len="med"/>
                      <a:tailEnd type="none" w="med" len="med"/>
                    </a:lnB>
                    <a:solidFill>
                      <a:srgbClr val="E8F0FD"/>
                    </a:solidFill>
                  </a:tcPr>
                </a:tc>
                <a:tc>
                  <a:txBody>
                    <a:bodyPr/>
                    <a:lstStyle/>
                    <a:p>
                      <a:pPr marL="0" indent="0">
                        <a:lnSpc>
                          <a:spcPts val="1680"/>
                        </a:lnSpc>
                        <a:buNone/>
                      </a:pPr>
                      <a:r>
                        <a:rPr lang="en-US" sz="1200" dirty="0">
                          <a:solidFill>
                            <a:srgbClr val="14202E"/>
                          </a:solidFill>
                          <a:latin typeface="Public Sans" pitchFamily="34" charset="0"/>
                          <a:ea typeface="Public Sans" pitchFamily="34" charset="-122"/>
                          <a:cs typeface="Public Sans" pitchFamily="34" charset="-120"/>
                        </a:rPr>
                        <a:t>0.95 / 0.96 pass</a:t>
                      </a:r>
                      <a:endParaRPr lang="en-US" sz="1200" dirty="0">
                        <a:latin typeface="Public Sans" charset="0"/>
                        <a:ea typeface="Public Sans" charset="0"/>
                        <a:cs typeface="Public Sans" charset="0"/>
                      </a:endParaRPr>
                    </a:p>
                  </a:txBody>
                  <a:tcPr marL="53340" marR="53340" marT="53340" marB="53340">
                    <a:lnL w="12700" cap="flat" cmpd="sng" algn="ctr">
                      <a:solidFill>
                        <a:srgbClr val="B9C0CA"/>
                      </a:solidFill>
                      <a:prstDash val="solid"/>
                      <a:round/>
                      <a:headEnd type="none" w="med" len="med"/>
                      <a:tailEnd type="none" w="med" len="med"/>
                    </a:lnL>
                    <a:lnR w="12700" cap="flat" cmpd="sng" algn="ctr">
                      <a:solidFill>
                        <a:srgbClr val="B9C0CA"/>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9C0CA"/>
                      </a:solidFill>
                      <a:prstDash val="solid"/>
                      <a:round/>
                      <a:headEnd type="none" w="med" len="med"/>
                      <a:tailEnd type="none" w="med" len="med"/>
                    </a:lnB>
                    <a:solidFill>
                      <a:srgbClr val="E8F0FD"/>
                    </a:solidFill>
                  </a:tcPr>
                </a:tc>
                <a:tc>
                  <a:txBody>
                    <a:bodyPr/>
                    <a:lstStyle/>
                    <a:p>
                      <a:pPr marL="0" indent="0">
                        <a:lnSpc>
                          <a:spcPts val="1680"/>
                        </a:lnSpc>
                        <a:buNone/>
                      </a:pPr>
                      <a:r>
                        <a:rPr lang="en-US" sz="1200" dirty="0">
                          <a:solidFill>
                            <a:srgbClr val="14202E"/>
                          </a:solidFill>
                          <a:latin typeface="Public Sans" pitchFamily="34" charset="0"/>
                          <a:ea typeface="Public Sans" pitchFamily="34" charset="-122"/>
                          <a:cs typeface="Public Sans" pitchFamily="34" charset="-120"/>
                        </a:rPr>
                        <a:t>Passes</a:t>
                      </a:r>
                      <a:endParaRPr lang="en-US" sz="1200" dirty="0">
                        <a:latin typeface="Public Sans" charset="0"/>
                        <a:ea typeface="Public Sans" charset="0"/>
                        <a:cs typeface="Public Sans" charset="0"/>
                      </a:endParaRPr>
                    </a:p>
                  </a:txBody>
                  <a:tcPr marL="53340" marR="53340" marT="53340" marB="53340">
                    <a:lnL w="12700" cap="flat" cmpd="sng" algn="ctr">
                      <a:solidFill>
                        <a:srgbClr val="B9C0CA"/>
                      </a:solidFill>
                      <a:prstDash val="solid"/>
                      <a:round/>
                      <a:headEnd type="none" w="med" len="med"/>
                      <a:tailEnd type="none" w="med" len="med"/>
                    </a:lnL>
                    <a:lnR w="12700" cap="flat" cmpd="sng" algn="ctr">
                      <a:solidFill>
                        <a:srgbClr val="B9C0CA"/>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9C0CA"/>
                      </a:solidFill>
                      <a:prstDash val="solid"/>
                      <a:round/>
                      <a:headEnd type="none" w="med" len="med"/>
                      <a:tailEnd type="none" w="med" len="med"/>
                    </a:lnB>
                    <a:solidFill>
                      <a:srgbClr val="E8F0FD"/>
                    </a:solidFill>
                  </a:tcPr>
                </a:tc>
                <a:extLst>
                  <a:ext uri="{0D108BD9-81ED-4DB2-BD59-A6C34878D82A}">
                    <a16:rowId xmlns:a16="http://schemas.microsoft.com/office/drawing/2014/main" val="10003"/>
                  </a:ext>
                </a:extLst>
              </a:tr>
            </a:tbl>
          </a:graphicData>
        </a:graphic>
      </p:graphicFrame>
      <p:sp>
        <p:nvSpPr>
          <p:cNvPr id="4" name="Text 1"/>
          <p:cNvSpPr/>
          <p:nvPr/>
        </p:nvSpPr>
        <p:spPr>
          <a:xfrm>
            <a:off x="0" y="6644680"/>
            <a:ext cx="125577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889"/>
                </a:solidFill>
                <a:latin typeface="Public Sans" pitchFamily="34" charset="0"/>
                <a:ea typeface="Public Sans" pitchFamily="34" charset="-122"/>
                <a:cs typeface="Public Sans" pitchFamily="34" charset="-120"/>
              </a:rPr>
              <a:t>Clean model: gap 0.03. Late layers = 16–23, pooled, as a multiple of a clean model's bias. Pass lines are our policy choice. 60 held-out CVs. On this model, under these tests.</a:t>
            </a:r>
            <a:endParaRPr lang="en-US" sz="1200" dirty="0"/>
          </a:p>
        </p:txBody>
      </p:sp>
      <p:pic>
        <p:nvPicPr>
          <p:cNvPr id="5" name="Image 0" descr="Bars per model: decision gap, pooled late-layer retention and balanced accuracy."/>
          <p:cNvPicPr>
            <a:picLocks noChangeAspect="1"/>
          </p:cNvPicPr>
          <p:nvPr/>
        </p:nvPicPr>
        <p:blipFill>
          <a:blip r:embed="rId3"/>
          <a:srcRect l="-23927" r="-23927"/>
          <a:stretch/>
        </p:blipFill>
        <p:spPr>
          <a:xfrm>
            <a:off x="0" y="2165350"/>
            <a:ext cx="11887250" cy="44793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0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F08A4B"/>
                </a:solidFill>
                <a:latin typeface="JetBrains Mono" pitchFamily="49" charset="0"/>
                <a:ea typeface="JetBrains Mono" pitchFamily="49" charset="-122"/>
                <a:cs typeface="JetBrains Mono" pitchFamily="49" charset="-120"/>
              </a:rPr>
              <a:t>LIMITS</a:t>
            </a:r>
            <a:endParaRPr lang="en-US" sz="1200" dirty="0"/>
          </a:p>
        </p:txBody>
      </p:sp>
      <p:sp>
        <p:nvSpPr>
          <p:cNvPr id="3" name="Text 1"/>
          <p:cNvSpPr>
            <a:spLocks noGrp="1"/>
          </p:cNvSpPr>
          <p:nvPr>
            <p:ph type="title"/>
          </p:nvPr>
        </p:nvSpPr>
        <p:spPr>
          <a:xfrm>
            <a:off x="812800" y="112772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EEF2F6"/>
                </a:solidFill>
                <a:latin typeface="Archivo" pitchFamily="34" charset="0"/>
                <a:ea typeface="Archivo" pitchFamily="34" charset="-122"/>
                <a:cs typeface="Archivo" pitchFamily="34" charset="-120"/>
              </a:rPr>
              <a:t>What we don't claim</a:t>
            </a:r>
            <a:endParaRPr lang="en-US" sz="4000" dirty="0"/>
          </a:p>
        </p:txBody>
      </p:sp>
      <p:sp>
        <p:nvSpPr>
          <p:cNvPr id="4" name="Text 2"/>
          <p:cNvSpPr/>
          <p:nvPr/>
        </p:nvSpPr>
        <p:spPr>
          <a:xfrm>
            <a:off x="812800" y="2095500"/>
            <a:ext cx="5441696"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EEF2F6"/>
                </a:solidFill>
                <a:latin typeface="Archivo" pitchFamily="34" charset="0"/>
                <a:ea typeface="Archivo" pitchFamily="34" charset="-122"/>
                <a:cs typeface="Archivo" pitchFamily="34" charset="-120"/>
              </a:rPr>
              <a:t>One small model</a:t>
            </a:r>
            <a:endParaRPr lang="en-US" sz="2200" dirty="0"/>
          </a:p>
        </p:txBody>
      </p:sp>
      <p:sp>
        <p:nvSpPr>
          <p:cNvPr id="5" name="Text 3"/>
          <p:cNvSpPr/>
          <p:nvPr/>
        </p:nvSpPr>
        <p:spPr>
          <a:xfrm>
            <a:off x="812800" y="2506960"/>
            <a:ext cx="544169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4D0"/>
                </a:solidFill>
                <a:latin typeface="Public Sans" pitchFamily="34" charset="0"/>
                <a:ea typeface="Public Sans" pitchFamily="34" charset="-122"/>
                <a:cs typeface="Public Sans" pitchFamily="34" charset="-120"/>
              </a:rPr>
              <a:t>Qwen 0.5B, 60 held-out resumes. Results won't transfer between models.</a:t>
            </a:r>
            <a:endParaRPr lang="en-US" sz="1600" dirty="0"/>
          </a:p>
        </p:txBody>
      </p:sp>
      <p:sp>
        <p:nvSpPr>
          <p:cNvPr id="6" name="Text 4"/>
          <p:cNvSpPr/>
          <p:nvPr/>
        </p:nvSpPr>
        <p:spPr>
          <a:xfrm>
            <a:off x="6407727" y="2091969"/>
            <a:ext cx="5441696"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EEF2F6"/>
                </a:solidFill>
                <a:latin typeface="Archivo" pitchFamily="34" charset="0"/>
                <a:ea typeface="Archivo" pitchFamily="34" charset="-122"/>
                <a:cs typeface="Archivo" pitchFamily="34" charset="-120"/>
              </a:rPr>
              <a:t>Only what we test</a:t>
            </a:r>
            <a:endParaRPr lang="en-US" sz="2200" dirty="0"/>
          </a:p>
        </p:txBody>
      </p:sp>
      <p:sp>
        <p:nvSpPr>
          <p:cNvPr id="7" name="Text 5"/>
          <p:cNvSpPr/>
          <p:nvPr/>
        </p:nvSpPr>
        <p:spPr>
          <a:xfrm>
            <a:off x="6407727" y="2506960"/>
            <a:ext cx="544169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4D0"/>
                </a:solidFill>
                <a:latin typeface="Public Sans" pitchFamily="34" charset="0"/>
                <a:ea typeface="Public Sans" pitchFamily="34" charset="-122"/>
                <a:cs typeface="Public Sans" pitchFamily="34" charset="-120"/>
              </a:rPr>
              <a:t>The fix covers name swaps. Other proxies need their own pairs. No test proves zero bias.</a:t>
            </a:r>
            <a:endParaRPr lang="en-US" sz="1600" dirty="0"/>
          </a:p>
        </p:txBody>
      </p:sp>
      <p:sp>
        <p:nvSpPr>
          <p:cNvPr id="8" name="Text 6"/>
          <p:cNvSpPr/>
          <p:nvPr/>
        </p:nvSpPr>
        <p:spPr>
          <a:xfrm>
            <a:off x="812800" y="4053731"/>
            <a:ext cx="5441696"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EEF2F6"/>
                </a:solidFill>
                <a:latin typeface="Archivo" pitchFamily="34" charset="0"/>
                <a:ea typeface="Archivo" pitchFamily="34" charset="-122"/>
                <a:cs typeface="Archivo" pitchFamily="34" charset="-120"/>
              </a:rPr>
              <a:t>Names only</a:t>
            </a:r>
            <a:endParaRPr lang="en-US" sz="2200" dirty="0"/>
          </a:p>
        </p:txBody>
      </p:sp>
      <p:sp>
        <p:nvSpPr>
          <p:cNvPr id="9" name="Text 7"/>
          <p:cNvSpPr/>
          <p:nvPr/>
        </p:nvSpPr>
        <p:spPr>
          <a:xfrm>
            <a:off x="812800" y="4466481"/>
            <a:ext cx="544169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4D0"/>
                </a:solidFill>
                <a:latin typeface="Public Sans" pitchFamily="34" charset="0"/>
                <a:ea typeface="Public Sans" pitchFamily="34" charset="-122"/>
                <a:cs typeface="Public Sans" pitchFamily="34" charset="-120"/>
              </a:rPr>
              <a:t>A crude proxy for race. University, postcode and career gaps leak too.</a:t>
            </a:r>
            <a:endParaRPr lang="en-US" sz="1600" dirty="0"/>
          </a:p>
        </p:txBody>
      </p:sp>
      <p:sp>
        <p:nvSpPr>
          <p:cNvPr id="10" name="Text 8"/>
          <p:cNvSpPr/>
          <p:nvPr/>
        </p:nvSpPr>
        <p:spPr>
          <a:xfrm>
            <a:off x="6407727" y="4053731"/>
            <a:ext cx="5441696"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EEF2F6"/>
                </a:solidFill>
                <a:latin typeface="Archivo" pitchFamily="34" charset="0"/>
                <a:ea typeface="Archivo" pitchFamily="34" charset="-122"/>
                <a:cs typeface="Archivo" pitchFamily="34" charset="-120"/>
              </a:rPr>
              <a:t>Injected bias</a:t>
            </a:r>
            <a:endParaRPr lang="en-US" sz="2200" dirty="0"/>
          </a:p>
        </p:txBody>
      </p:sp>
      <p:sp>
        <p:nvSpPr>
          <p:cNvPr id="11" name="Text 9"/>
          <p:cNvSpPr/>
          <p:nvPr/>
        </p:nvSpPr>
        <p:spPr>
          <a:xfrm>
            <a:off x="6407727" y="4466481"/>
            <a:ext cx="544169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4D0"/>
                </a:solidFill>
                <a:latin typeface="Public Sans" pitchFamily="34" charset="0"/>
                <a:ea typeface="Public Sans" pitchFamily="34" charset="-122"/>
                <a:cs typeface="Public Sans" pitchFamily="34" charset="-120"/>
              </a:rPr>
              <a:t>Cleaner than real-world bias. Pass lines were set after seeing results.</a:t>
            </a:r>
            <a:endParaRPr lang="en-US" sz="1600" dirty="0"/>
          </a:p>
        </p:txBody>
      </p:sp>
    </p:spTree>
  </p:cSld>
  <p:clrMapOvr>
    <a:masterClrMapping/>
  </p:clrMapOvr>
</p:sld>
</file>

<file path=ppt/theme/theme1.xml><?xml version="1.0" encoding="utf-8"?>
<a:theme xmlns:a="http://schemas.openxmlformats.org/drawingml/2006/main" name="Same Answer, Different Thoughts">
  <a:themeElements>
    <a:clrScheme name="Same Answer, Different Thoughts">
      <a:dk1>
        <a:srgbClr val="14202E"/>
      </a:dk1>
      <a:lt1>
        <a:srgbClr val="EEF2F6"/>
      </a:lt1>
      <a:dk2>
        <a:srgbClr val="2A3542"/>
      </a:dk2>
      <a:lt2>
        <a:srgbClr val="B8BEC4"/>
      </a:lt2>
      <a:accent1>
        <a:srgbClr val="F08A4B"/>
      </a:accent1>
      <a:accent2>
        <a:srgbClr val="8FB6F5"/>
      </a:accent2>
      <a:accent3>
        <a:srgbClr val="C4561B"/>
      </a:accent3>
      <a:accent4>
        <a:srgbClr val="1F8A5B"/>
      </a:accent4>
      <a:accent5>
        <a:srgbClr val="F5A374"/>
      </a:accent5>
      <a:accent6>
        <a:srgbClr val="1F4FA8"/>
      </a:accent6>
      <a:hlink>
        <a:srgbClr val="0563C1"/>
      </a:hlink>
      <a:folHlink>
        <a:srgbClr val="954F72"/>
      </a:folHlink>
    </a:clrScheme>
    <a:fontScheme name="Same Answer, Different Thoughts">
      <a:majorFont>
        <a:latin typeface="Archiv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894</Words>
  <Application>Microsoft Macintosh PowerPoint</Application>
  <PresentationFormat>Widescreen</PresentationFormat>
  <Paragraphs>74</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Archivo</vt:lpstr>
      <vt:lpstr>Arial</vt:lpstr>
      <vt:lpstr>JetBrains Mono</vt:lpstr>
      <vt:lpstr>Public Sans</vt:lpstr>
      <vt:lpstr>Same Answer, Different Thoughts</vt:lpstr>
      <vt:lpstr>Same answer, different thoughts.</vt:lpstr>
      <vt:lpstr>A hiring model that checks itself for both kinds of bias</vt:lpstr>
      <vt:lpstr>Fixing answers alone hides the bias. Ours brings every late layer to clean.</vt:lpstr>
      <vt:lpstr>The self-check passes only our fix. Gap 0.93 → 0.00.</vt:lpstr>
      <vt:lpstr>What we don't claim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Same Answer, Different Thoughts</dc:title>
  <dc:subject/>
  <dc:creator/>
  <cp:lastModifiedBy>Danny Lugovkin</cp:lastModifiedBy>
  <cp:revision>4</cp:revision>
  <dcterms:created xsi:type="dcterms:W3CDTF">2026-10-07T15:44:38Z</dcterms:created>
  <dcterms:modified xsi:type="dcterms:W3CDTF">2026-10-07T15:56:01Z</dcterms:modified>
</cp:coreProperties>
</file>